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2" r:id="rId5"/>
  </p:sldMasterIdLst>
  <p:notesMasterIdLst>
    <p:notesMasterId r:id="rId12"/>
  </p:notesMasterIdLst>
  <p:handoutMasterIdLst>
    <p:handoutMasterId r:id="rId13"/>
  </p:handoutMasterIdLst>
  <p:sldIdLst>
    <p:sldId id="427" r:id="rId6"/>
    <p:sldId id="423" r:id="rId7"/>
    <p:sldId id="443" r:id="rId8"/>
    <p:sldId id="441" r:id="rId9"/>
    <p:sldId id="421" r:id="rId10"/>
    <p:sldId id="42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DB0909"/>
    <a:srgbClr val="9C2828"/>
    <a:srgbClr val="4D1226"/>
    <a:srgbClr val="4E1227"/>
    <a:srgbClr val="F2EBE3"/>
    <a:srgbClr val="F5F5F5"/>
    <a:srgbClr val="EB0000"/>
    <a:srgbClr val="4A102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AC1121-B013-C9E9-475F-F34CDA1AB893}" v="5" dt="2025-07-09T03:00:17.532"/>
    <p1510:client id="{92A8D739-4F2D-70BA-F297-71C070ED51B9}" v="3" dt="2025-07-09T05:20:30.3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17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handoutMaster" Target="handoutMasters/handout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viewProps" Target="viewProps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B18BE7C0-4073-0DE7-F7A3-938B4D335A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A659A4C-DE3D-18AF-F5A9-2F86CA4FD11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7920B-B2FE-49A8-9CD6-83C34481440A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C5B23EF-7B22-14C9-E026-7E2F9C433B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40AFBE-7F29-0C71-C104-F925173A29F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129D0-8D30-49F9-BC0D-54DE05518C5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189428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8744-B116-4B8F-9527-C8410564E4CC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8BE6E6-7EC9-4FB3-8718-C124214D2F0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592534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2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63" algn="l" defTabSz="91432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27" algn="l" defTabSz="91432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89" algn="l" defTabSz="91432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653" algn="l" defTabSz="91432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816" algn="l" defTabSz="91432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980" algn="l" defTabSz="91432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42" algn="l" defTabSz="91432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05" algn="l" defTabSz="91432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6CC1A-581E-AA68-637E-A3ACFE6E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09C630-33AD-86DB-77D9-6C33C2C17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9FC22A-0AC4-3CA6-175E-3D2477BB4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8668A-6D65-D100-90F7-470DBECF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9FA1A-94C5-479E-BCAA-3522CF553506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9634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6CC1A-581E-AA68-637E-A3ACFE6E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09C630-33AD-86DB-77D9-6C33C2C17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9FC22A-0AC4-3CA6-175E-3D2477BB4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8668A-6D65-D100-90F7-470DBECF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D9FA1A-94C5-479E-BCAA-3522CF55350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978903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6CC1A-581E-AA68-637E-A3ACFE6E8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09C630-33AD-86DB-77D9-6C33C2C176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9FC22A-0AC4-3CA6-175E-3D2477BB4E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98668A-6D65-D100-90F7-470DBECFA0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ED9FA1A-94C5-479E-BCAA-3522CF55350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466353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5A956-B1C0-D465-C493-A0EAA0CF1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D4D1DD6-EDD0-282F-EB81-71E7B3AB42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7DE10C-78FE-4D19-2C50-331CD21DA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0DC74D-4D5D-01D7-7B7B-7A5963C38C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9FA1A-94C5-479E-BCAA-3522CF553506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33131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3D5A9D-145E-17D0-EF63-07226C180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3E4FF8-F9CA-BADA-DE06-80A14F9CEA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5FCC5E1-A51E-2B6E-E809-14AD37D52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9A2F63-93F0-84D5-80A7-222DA0B0D8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D9FA1A-94C5-479E-BCAA-3522CF55350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9876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4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98" indent="0" algn="ctr">
              <a:buNone/>
              <a:defRPr sz="2000"/>
            </a:lvl2pPr>
            <a:lvl3pPr marL="914396" indent="0" algn="ctr">
              <a:buNone/>
              <a:defRPr sz="1800"/>
            </a:lvl3pPr>
            <a:lvl4pPr marL="1371594" indent="0" algn="ctr">
              <a:buNone/>
              <a:defRPr sz="1600"/>
            </a:lvl4pPr>
            <a:lvl5pPr marL="1828792" indent="0" algn="ctr">
              <a:buNone/>
              <a:defRPr sz="1600"/>
            </a:lvl5pPr>
            <a:lvl6pPr marL="2285989" indent="0" algn="ctr">
              <a:buNone/>
              <a:defRPr sz="1600"/>
            </a:lvl6pPr>
            <a:lvl7pPr marL="2743188" indent="0" algn="ctr">
              <a:buNone/>
              <a:defRPr sz="1600"/>
            </a:lvl7pPr>
            <a:lvl8pPr marL="3200386" indent="0" algn="ctr">
              <a:buNone/>
              <a:defRPr sz="1600"/>
            </a:lvl8pPr>
            <a:lvl9pPr marL="3657583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6F7AF-DD7F-4EC6-94A9-3DBD4EF99E00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684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5906D-F09A-4067-ABD0-5DEC445AA144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2331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2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19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9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8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8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238DDC-4CEB-4A37-A152-16E434E188DE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81907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6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6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412690-DA2C-4A17-B19C-684ECDF336D8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870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4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8" indent="0">
              <a:buNone/>
              <a:defRPr sz="2000" b="1"/>
            </a:lvl2pPr>
            <a:lvl3pPr marL="914396" indent="0">
              <a:buNone/>
              <a:defRPr sz="1800" b="1"/>
            </a:lvl3pPr>
            <a:lvl4pPr marL="1371594" indent="0">
              <a:buNone/>
              <a:defRPr sz="1600" b="1"/>
            </a:lvl4pPr>
            <a:lvl5pPr marL="1828792" indent="0">
              <a:buNone/>
              <a:defRPr sz="1600" b="1"/>
            </a:lvl5pPr>
            <a:lvl6pPr marL="2285989" indent="0">
              <a:buNone/>
              <a:defRPr sz="1600" b="1"/>
            </a:lvl6pPr>
            <a:lvl7pPr marL="2743188" indent="0">
              <a:buNone/>
              <a:defRPr sz="1600" b="1"/>
            </a:lvl7pPr>
            <a:lvl8pPr marL="3200386" indent="0">
              <a:buNone/>
              <a:defRPr sz="1600" b="1"/>
            </a:lvl8pPr>
            <a:lvl9pPr marL="365758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6" y="1681164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98" indent="0">
              <a:buNone/>
              <a:defRPr sz="2000" b="1"/>
            </a:lvl2pPr>
            <a:lvl3pPr marL="914396" indent="0">
              <a:buNone/>
              <a:defRPr sz="1800" b="1"/>
            </a:lvl3pPr>
            <a:lvl4pPr marL="1371594" indent="0">
              <a:buNone/>
              <a:defRPr sz="1600" b="1"/>
            </a:lvl4pPr>
            <a:lvl5pPr marL="1828792" indent="0">
              <a:buNone/>
              <a:defRPr sz="1600" b="1"/>
            </a:lvl5pPr>
            <a:lvl6pPr marL="2285989" indent="0">
              <a:buNone/>
              <a:defRPr sz="1600" b="1"/>
            </a:lvl6pPr>
            <a:lvl7pPr marL="2743188" indent="0">
              <a:buNone/>
              <a:defRPr sz="1600" b="1"/>
            </a:lvl7pPr>
            <a:lvl8pPr marL="3200386" indent="0">
              <a:buNone/>
              <a:defRPr sz="1600" b="1"/>
            </a:lvl8pPr>
            <a:lvl9pPr marL="3657583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6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C910A4-4949-4326-B703-70C40AE09DA8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718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27E76-B3B5-4410-8BEB-40D99528D823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38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E9A6D-E7FD-4AC7-9851-439B5ECE4825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9716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7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8" indent="0">
              <a:buNone/>
              <a:defRPr sz="1400"/>
            </a:lvl2pPr>
            <a:lvl3pPr marL="914396" indent="0">
              <a:buNone/>
              <a:defRPr sz="1200"/>
            </a:lvl3pPr>
            <a:lvl4pPr marL="1371594" indent="0">
              <a:buNone/>
              <a:defRPr sz="1000"/>
            </a:lvl4pPr>
            <a:lvl5pPr marL="1828792" indent="0">
              <a:buNone/>
              <a:defRPr sz="1000"/>
            </a:lvl5pPr>
            <a:lvl6pPr marL="2285989" indent="0">
              <a:buNone/>
              <a:defRPr sz="1000"/>
            </a:lvl6pPr>
            <a:lvl7pPr marL="2743188" indent="0">
              <a:buNone/>
              <a:defRPr sz="1000"/>
            </a:lvl7pPr>
            <a:lvl8pPr marL="3200386" indent="0">
              <a:buNone/>
              <a:defRPr sz="1000"/>
            </a:lvl8pPr>
            <a:lvl9pPr marL="365758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F1A7B0-3AC5-40CB-8F08-63E5BA88DFA1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1897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7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98" indent="0">
              <a:buNone/>
              <a:defRPr sz="2800"/>
            </a:lvl2pPr>
            <a:lvl3pPr marL="914396" indent="0">
              <a:buNone/>
              <a:defRPr sz="2400"/>
            </a:lvl3pPr>
            <a:lvl4pPr marL="1371594" indent="0">
              <a:buNone/>
              <a:defRPr sz="2000"/>
            </a:lvl4pPr>
            <a:lvl5pPr marL="1828792" indent="0">
              <a:buNone/>
              <a:defRPr sz="2000"/>
            </a:lvl5pPr>
            <a:lvl6pPr marL="2285989" indent="0">
              <a:buNone/>
              <a:defRPr sz="2000"/>
            </a:lvl6pPr>
            <a:lvl7pPr marL="2743188" indent="0">
              <a:buNone/>
              <a:defRPr sz="2000"/>
            </a:lvl7pPr>
            <a:lvl8pPr marL="3200386" indent="0">
              <a:buNone/>
              <a:defRPr sz="2000"/>
            </a:lvl8pPr>
            <a:lvl9pPr marL="3657583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98" indent="0">
              <a:buNone/>
              <a:defRPr sz="1400"/>
            </a:lvl2pPr>
            <a:lvl3pPr marL="914396" indent="0">
              <a:buNone/>
              <a:defRPr sz="1200"/>
            </a:lvl3pPr>
            <a:lvl4pPr marL="1371594" indent="0">
              <a:buNone/>
              <a:defRPr sz="1000"/>
            </a:lvl4pPr>
            <a:lvl5pPr marL="1828792" indent="0">
              <a:buNone/>
              <a:defRPr sz="1000"/>
            </a:lvl5pPr>
            <a:lvl6pPr marL="2285989" indent="0">
              <a:buNone/>
              <a:defRPr sz="1000"/>
            </a:lvl6pPr>
            <a:lvl7pPr marL="2743188" indent="0">
              <a:buNone/>
              <a:defRPr sz="1000"/>
            </a:lvl7pPr>
            <a:lvl8pPr marL="3200386" indent="0">
              <a:buNone/>
              <a:defRPr sz="1000"/>
            </a:lvl8pPr>
            <a:lvl9pPr marL="3657583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C3BE1-5B9F-46A6-B998-24AA2EEC30FD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830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C177C-7A8E-41CD-AC1D-A12944AC8F2E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22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365126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6" y="365126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1BB53-30C1-4188-9775-2F1BC610215C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9546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4" indent="0" algn="ctr">
              <a:buNone/>
              <a:defRPr sz="1500"/>
            </a:lvl2pPr>
            <a:lvl3pPr marL="685789" indent="0" algn="ctr">
              <a:buNone/>
              <a:defRPr sz="1350"/>
            </a:lvl3pPr>
            <a:lvl4pPr marL="1028683" indent="0" algn="ctr">
              <a:buNone/>
              <a:defRPr sz="1200"/>
            </a:lvl4pPr>
            <a:lvl5pPr marL="1371577" indent="0" algn="ctr">
              <a:buNone/>
              <a:defRPr sz="1200"/>
            </a:lvl5pPr>
            <a:lvl6pPr marL="1714470" indent="0" algn="ctr">
              <a:buNone/>
              <a:defRPr sz="1200"/>
            </a:lvl6pPr>
            <a:lvl7pPr marL="2057365" indent="0" algn="ctr">
              <a:buNone/>
              <a:defRPr sz="1200"/>
            </a:lvl7pPr>
            <a:lvl8pPr marL="2400259" indent="0" algn="ctr">
              <a:buNone/>
              <a:defRPr sz="1200"/>
            </a:lvl8pPr>
            <a:lvl9pPr marL="2743153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99338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541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40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5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894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789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683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577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47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365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259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153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058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1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819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4" indent="0">
              <a:buNone/>
              <a:defRPr sz="1500" b="1"/>
            </a:lvl2pPr>
            <a:lvl3pPr marL="685789" indent="0">
              <a:buNone/>
              <a:defRPr sz="1350" b="1"/>
            </a:lvl3pPr>
            <a:lvl4pPr marL="1028683" indent="0">
              <a:buNone/>
              <a:defRPr sz="1200" b="1"/>
            </a:lvl4pPr>
            <a:lvl5pPr marL="1371577" indent="0">
              <a:buNone/>
              <a:defRPr sz="1200" b="1"/>
            </a:lvl5pPr>
            <a:lvl6pPr marL="1714470" indent="0">
              <a:buNone/>
              <a:defRPr sz="1200" b="1"/>
            </a:lvl6pPr>
            <a:lvl7pPr marL="2057365" indent="0">
              <a:buNone/>
              <a:defRPr sz="1200" b="1"/>
            </a:lvl7pPr>
            <a:lvl8pPr marL="2400259" indent="0">
              <a:buNone/>
              <a:defRPr sz="1200" b="1"/>
            </a:lvl8pPr>
            <a:lvl9pPr marL="2743153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4" indent="0">
              <a:buNone/>
              <a:defRPr sz="1500" b="1"/>
            </a:lvl2pPr>
            <a:lvl3pPr marL="685789" indent="0">
              <a:buNone/>
              <a:defRPr sz="1350" b="1"/>
            </a:lvl3pPr>
            <a:lvl4pPr marL="1028683" indent="0">
              <a:buNone/>
              <a:defRPr sz="1200" b="1"/>
            </a:lvl4pPr>
            <a:lvl5pPr marL="1371577" indent="0">
              <a:buNone/>
              <a:defRPr sz="1200" b="1"/>
            </a:lvl5pPr>
            <a:lvl6pPr marL="1714470" indent="0">
              <a:buNone/>
              <a:defRPr sz="1200" b="1"/>
            </a:lvl6pPr>
            <a:lvl7pPr marL="2057365" indent="0">
              <a:buNone/>
              <a:defRPr sz="1200" b="1"/>
            </a:lvl7pPr>
            <a:lvl8pPr marL="2400259" indent="0">
              <a:buNone/>
              <a:defRPr sz="1200" b="1"/>
            </a:lvl8pPr>
            <a:lvl9pPr marL="2743153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48708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25186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94524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2" y="987427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4" indent="0">
              <a:buNone/>
              <a:defRPr sz="1050"/>
            </a:lvl2pPr>
            <a:lvl3pPr marL="685789" indent="0">
              <a:buNone/>
              <a:defRPr sz="900"/>
            </a:lvl3pPr>
            <a:lvl4pPr marL="1028683" indent="0">
              <a:buNone/>
              <a:defRPr sz="750"/>
            </a:lvl4pPr>
            <a:lvl5pPr marL="1371577" indent="0">
              <a:buNone/>
              <a:defRPr sz="750"/>
            </a:lvl5pPr>
            <a:lvl6pPr marL="1714470" indent="0">
              <a:buNone/>
              <a:defRPr sz="750"/>
            </a:lvl6pPr>
            <a:lvl7pPr marL="2057365" indent="0">
              <a:buNone/>
              <a:defRPr sz="750"/>
            </a:lvl7pPr>
            <a:lvl8pPr marL="2400259" indent="0">
              <a:buNone/>
              <a:defRPr sz="750"/>
            </a:lvl8pPr>
            <a:lvl9pPr marL="2743153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6511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2" y="457200"/>
            <a:ext cx="294917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2" y="987427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894" indent="0">
              <a:buNone/>
              <a:defRPr sz="2100"/>
            </a:lvl2pPr>
            <a:lvl3pPr marL="685789" indent="0">
              <a:buNone/>
              <a:defRPr sz="1800"/>
            </a:lvl3pPr>
            <a:lvl4pPr marL="1028683" indent="0">
              <a:buNone/>
              <a:defRPr sz="1500"/>
            </a:lvl4pPr>
            <a:lvl5pPr marL="1371577" indent="0">
              <a:buNone/>
              <a:defRPr sz="1500"/>
            </a:lvl5pPr>
            <a:lvl6pPr marL="1714470" indent="0">
              <a:buNone/>
              <a:defRPr sz="1500"/>
            </a:lvl6pPr>
            <a:lvl7pPr marL="2057365" indent="0">
              <a:buNone/>
              <a:defRPr sz="1500"/>
            </a:lvl7pPr>
            <a:lvl8pPr marL="2400259" indent="0">
              <a:buNone/>
              <a:defRPr sz="1500"/>
            </a:lvl8pPr>
            <a:lvl9pPr marL="2743153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2" y="2057400"/>
            <a:ext cx="294917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4" indent="0">
              <a:buNone/>
              <a:defRPr sz="1050"/>
            </a:lvl2pPr>
            <a:lvl3pPr marL="685789" indent="0">
              <a:buNone/>
              <a:defRPr sz="900"/>
            </a:lvl3pPr>
            <a:lvl4pPr marL="1028683" indent="0">
              <a:buNone/>
              <a:defRPr sz="750"/>
            </a:lvl4pPr>
            <a:lvl5pPr marL="1371577" indent="0">
              <a:buNone/>
              <a:defRPr sz="750"/>
            </a:lvl5pPr>
            <a:lvl6pPr marL="1714470" indent="0">
              <a:buNone/>
              <a:defRPr sz="750"/>
            </a:lvl6pPr>
            <a:lvl7pPr marL="2057365" indent="0">
              <a:buNone/>
              <a:defRPr sz="750"/>
            </a:lvl7pPr>
            <a:lvl8pPr marL="2400259" indent="0">
              <a:buNone/>
              <a:defRPr sz="750"/>
            </a:lvl8pPr>
            <a:lvl9pPr marL="2743153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27389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69156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0631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6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FBA979-2C71-489F-9536-397B288FAE31}" type="datetime1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4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B22D9-3609-45CA-B7B7-B2D17D7DB5D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4689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396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9" indent="-228599" algn="l" defTabSz="91439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7" indent="-228599" algn="l" defTabSz="91439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95" indent="-228599" algn="l" defTabSz="91439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93" indent="-228599" algn="l" defTabSz="91439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91" indent="-228599" algn="l" defTabSz="91439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89" indent="-228599" algn="l" defTabSz="91439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87" indent="-228599" algn="l" defTabSz="91439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85" indent="-228599" algn="l" defTabSz="91439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82" indent="-228599" algn="l" defTabSz="91439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8" algn="l" defTabSz="9143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96" algn="l" defTabSz="9143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94" algn="l" defTabSz="9143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92" algn="l" defTabSz="9143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89" algn="l" defTabSz="9143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88" algn="l" defTabSz="9143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86" algn="l" defTabSz="9143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83" algn="l" defTabSz="9143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08EE69-5CF3-4165-9C58-C0772F06E416}" type="datetimeFigureOut">
              <a:rPr lang="ko-KR" altLang="en-US" smtClean="0"/>
              <a:t>2026-05-19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2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2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AB5E9A-0EE4-40DD-8077-24FE68D8C2F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384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789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7" indent="-171447" algn="l" defTabSz="685789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41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35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9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24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18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12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07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00" indent="-171447" algn="l" defTabSz="685789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4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9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83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77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70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65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59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53" algn="l" defTabSz="685789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텍스트, 클립아트이(가) 표시된 사진&#10;&#10;자동 생성된 설명">
            <a:extLst>
              <a:ext uri="{FF2B5EF4-FFF2-40B4-BE49-F238E27FC236}">
                <a16:creationId xmlns:a16="http://schemas.microsoft.com/office/drawing/2014/main" id="{8D43A8E3-DF86-F334-151B-741DFFF4B5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01" y="2601131"/>
            <a:ext cx="1741108" cy="662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4">
            <a:extLst>
              <a:ext uri="{FF2B5EF4-FFF2-40B4-BE49-F238E27FC236}">
                <a16:creationId xmlns:a16="http://schemas.microsoft.com/office/drawing/2014/main" id="{A718307A-2DAB-A413-C45B-5F45CFFF9995}"/>
              </a:ext>
            </a:extLst>
          </p:cNvPr>
          <p:cNvSpPr/>
          <p:nvPr/>
        </p:nvSpPr>
        <p:spPr>
          <a:xfrm>
            <a:off x="103103" y="3429003"/>
            <a:ext cx="8900109" cy="69508"/>
          </a:xfrm>
          <a:prstGeom prst="rect">
            <a:avLst/>
          </a:prstGeom>
          <a:solidFill>
            <a:srgbClr val="F2EBE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749168"/>
            <a:endParaRPr lang="en-US" sz="1394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9" name="TextBox 1">
            <a:extLst>
              <a:ext uri="{FF2B5EF4-FFF2-40B4-BE49-F238E27FC236}">
                <a16:creationId xmlns:a16="http://schemas.microsoft.com/office/drawing/2014/main" id="{653795CB-DEDB-ECE9-B446-7CE2572A2A53}"/>
              </a:ext>
            </a:extLst>
          </p:cNvPr>
          <p:cNvSpPr txBox="1"/>
          <p:nvPr/>
        </p:nvSpPr>
        <p:spPr>
          <a:xfrm>
            <a:off x="103101" y="3594373"/>
            <a:ext cx="5864504" cy="2158403"/>
          </a:xfrm>
          <a:prstGeom prst="rect">
            <a:avLst/>
          </a:prstGeom>
          <a:noFill/>
        </p:spPr>
        <p:txBody>
          <a:bodyPr wrap="square" lIns="70795" tIns="35397" rIns="70795" bIns="35397" anchor="t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749168"/>
            <a:r>
              <a:rPr lang="ko-KR" altLang="en-US" sz="1639" b="1" dirty="0" err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퍼펙트트윈립</a:t>
            </a:r>
            <a:r>
              <a:rPr lang="ko-KR" altLang="en-US" sz="1639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 부자재 불량 이슈 건 </a:t>
            </a:r>
            <a:endParaRPr lang="en-US" altLang="ko-KR" sz="1639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en-US" altLang="ko-KR" sz="1548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r>
              <a:rPr lang="en-US" altLang="ko-KR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SCM</a:t>
            </a:r>
            <a:r>
              <a:rPr lang="ko-KR" altLang="en-US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본부 </a:t>
            </a:r>
            <a:r>
              <a:rPr lang="ko-KR" altLang="en-US" sz="1394" b="1" dirty="0" err="1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품질팀</a:t>
            </a:r>
            <a:endParaRPr lang="en-US" altLang="ko-KR" sz="1394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/>
            </a:endParaRPr>
          </a:p>
          <a:p>
            <a:pPr defTabSz="749168"/>
            <a:endParaRPr lang="ko-KR" altLang="en-US" sz="1394" b="1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alibri"/>
            </a:endParaRPr>
          </a:p>
          <a:p>
            <a:pPr defTabSz="749168"/>
            <a:r>
              <a:rPr lang="en-US" altLang="ko-KR" sz="1394" b="1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/>
              </a:rPr>
              <a:t>2026.05.19</a:t>
            </a:r>
            <a:endParaRPr lang="en-US" sz="1394" b="1" dirty="0">
              <a:solidFill>
                <a:prstClr val="white"/>
              </a:solidFill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543530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5F266-C4C8-294E-03D4-05268B51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1">
            <a:extLst>
              <a:ext uri="{FF2B5EF4-FFF2-40B4-BE49-F238E27FC236}">
                <a16:creationId xmlns:a16="http://schemas.microsoft.com/office/drawing/2014/main" id="{584121FC-9492-7913-ABA1-FA5F20C5D610}"/>
              </a:ext>
            </a:extLst>
          </p:cNvPr>
          <p:cNvCxnSpPr>
            <a:cxnSpLocks/>
          </p:cNvCxnSpPr>
          <p:nvPr/>
        </p:nvCxnSpPr>
        <p:spPr>
          <a:xfrm>
            <a:off x="-7465" y="477624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074625E-225F-336C-6390-680CF3005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991" y="129822"/>
            <a:ext cx="681791" cy="2522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EF946A-D219-E9EA-E4CC-44E3A2787A6E}"/>
              </a:ext>
            </a:extLst>
          </p:cNvPr>
          <p:cNvSpPr txBox="1"/>
          <p:nvPr/>
        </p:nvSpPr>
        <p:spPr>
          <a:xfrm>
            <a:off x="2954" y="80884"/>
            <a:ext cx="4818427" cy="3694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ko-KR" altLang="en-US" sz="1801" b="1" dirty="0" err="1">
                <a:solidFill>
                  <a:srgbClr val="4E1227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퍼펙트트윈립</a:t>
            </a:r>
            <a:r>
              <a:rPr lang="ko-KR" altLang="en-US" sz="1801" b="1" dirty="0">
                <a:solidFill>
                  <a:srgbClr val="4E1227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부자재 불량이슈</a:t>
            </a:r>
            <a:endParaRPr lang="en-US" altLang="ko-KR" sz="1801" b="1" dirty="0">
              <a:solidFill>
                <a:srgbClr val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cxnSp>
        <p:nvCxnSpPr>
          <p:cNvPr id="14" name="직선 연결선[R] 1">
            <a:extLst>
              <a:ext uri="{FF2B5EF4-FFF2-40B4-BE49-F238E27FC236}">
                <a16:creationId xmlns:a16="http://schemas.microsoft.com/office/drawing/2014/main" id="{25D6C786-DC4C-4584-AE0A-04D6B68BB939}"/>
              </a:ext>
            </a:extLst>
          </p:cNvPr>
          <p:cNvCxnSpPr>
            <a:cxnSpLocks/>
          </p:cNvCxnSpPr>
          <p:nvPr/>
        </p:nvCxnSpPr>
        <p:spPr>
          <a:xfrm>
            <a:off x="-20146" y="6071766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">
            <a:extLst>
              <a:ext uri="{FF2B5EF4-FFF2-40B4-BE49-F238E27FC236}">
                <a16:creationId xmlns:a16="http://schemas.microsoft.com/office/drawing/2014/main" id="{B1B84F2B-0862-463E-8069-78A1DD4575B7}"/>
              </a:ext>
            </a:extLst>
          </p:cNvPr>
          <p:cNvCxnSpPr>
            <a:cxnSpLocks/>
          </p:cNvCxnSpPr>
          <p:nvPr/>
        </p:nvCxnSpPr>
        <p:spPr>
          <a:xfrm>
            <a:off x="-10073" y="893039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7F83DC2-6CB2-4DD9-87CC-5960485C60ED}"/>
              </a:ext>
            </a:extLst>
          </p:cNvPr>
          <p:cNvSpPr txBox="1"/>
          <p:nvPr/>
        </p:nvSpPr>
        <p:spPr>
          <a:xfrm>
            <a:off x="13567" y="475800"/>
            <a:ext cx="4807814" cy="3693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내캡</a:t>
            </a:r>
            <a:r>
              <a:rPr lang="ko-KR" altLang="en-US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+ </a:t>
            </a:r>
            <a:r>
              <a:rPr lang="ko-KR" altLang="en-US" dirty="0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외캡</a:t>
            </a:r>
            <a:r>
              <a:rPr lang="ko-KR" altLang="en-US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en-US" altLang="ko-KR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3 TYPE</a:t>
            </a:r>
            <a:r>
              <a:rPr lang="ko-KR" altLang="en-US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endParaRPr lang="en-US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cxnSp>
        <p:nvCxnSpPr>
          <p:cNvPr id="12" name="직선 연결선[R] 1">
            <a:extLst>
              <a:ext uri="{FF2B5EF4-FFF2-40B4-BE49-F238E27FC236}">
                <a16:creationId xmlns:a16="http://schemas.microsoft.com/office/drawing/2014/main" id="{A0C1B2F6-2C74-9C53-AB4C-49EE83F84B55}"/>
              </a:ext>
            </a:extLst>
          </p:cNvPr>
          <p:cNvCxnSpPr>
            <a:cxnSpLocks/>
          </p:cNvCxnSpPr>
          <p:nvPr/>
        </p:nvCxnSpPr>
        <p:spPr>
          <a:xfrm>
            <a:off x="-10073" y="3684490"/>
            <a:ext cx="9154073" cy="0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C548BE9-60C9-292F-C353-6CD447E8A9DC}"/>
              </a:ext>
            </a:extLst>
          </p:cNvPr>
          <p:cNvSpPr txBox="1"/>
          <p:nvPr/>
        </p:nvSpPr>
        <p:spPr>
          <a:xfrm>
            <a:off x="5157680" y="1151127"/>
            <a:ext cx="3848102" cy="2124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1. </a:t>
            </a:r>
            <a:r>
              <a:rPr lang="ko-KR" altLang="en-US" dirty="0"/>
              <a:t>초도 캡</a:t>
            </a:r>
            <a:r>
              <a:rPr lang="en-US" altLang="ko-KR" dirty="0"/>
              <a:t>1</a:t>
            </a:r>
            <a:r>
              <a:rPr lang="ko-KR" altLang="en-US" dirty="0"/>
              <a:t>버전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-&gt; </a:t>
            </a:r>
            <a:r>
              <a:rPr lang="ko-KR" altLang="en-US" dirty="0" err="1"/>
              <a:t>돌기없는</a:t>
            </a:r>
            <a:r>
              <a:rPr lang="ko-KR" altLang="en-US" dirty="0"/>
              <a:t> 민자 </a:t>
            </a:r>
            <a:r>
              <a:rPr lang="ko-KR" altLang="en-US" dirty="0" err="1"/>
              <a:t>내캡</a:t>
            </a:r>
            <a:r>
              <a:rPr lang="en-US" altLang="ko-KR" dirty="0"/>
              <a:t>+</a:t>
            </a:r>
            <a:r>
              <a:rPr lang="ko-KR" altLang="en-US" dirty="0" err="1"/>
              <a:t>외캡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  1</a:t>
            </a:r>
            <a:r>
              <a:rPr lang="ko-KR" altLang="en-US" dirty="0"/>
              <a:t>점</a:t>
            </a:r>
            <a:r>
              <a:rPr lang="en-US" altLang="ko-KR" dirty="0"/>
              <a:t>, 3</a:t>
            </a:r>
            <a:r>
              <a:rPr lang="ko-KR" altLang="en-US" dirty="0"/>
              <a:t>점식 </a:t>
            </a:r>
            <a:r>
              <a:rPr lang="ko-KR" altLang="en-US" dirty="0" err="1"/>
              <a:t>핫멜트접착</a:t>
            </a: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2. </a:t>
            </a:r>
            <a:r>
              <a:rPr lang="ko-KR" altLang="en-US" dirty="0"/>
              <a:t>캡</a:t>
            </a:r>
            <a:r>
              <a:rPr lang="en-US" altLang="ko-KR" dirty="0"/>
              <a:t>2</a:t>
            </a:r>
            <a:r>
              <a:rPr lang="ko-KR" altLang="en-US" dirty="0"/>
              <a:t>버전</a:t>
            </a:r>
            <a:r>
              <a:rPr lang="en-US" altLang="ko-KR" dirty="0"/>
              <a:t>: </a:t>
            </a:r>
            <a:r>
              <a:rPr lang="ko-KR" altLang="en-US" dirty="0" err="1"/>
              <a:t>캡분리</a:t>
            </a:r>
            <a:r>
              <a:rPr lang="ko-KR" altLang="en-US" dirty="0"/>
              <a:t> </a:t>
            </a:r>
            <a:r>
              <a:rPr lang="ko-KR" altLang="en-US" dirty="0" err="1"/>
              <a:t>선별품</a:t>
            </a: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579A7A6-8FBB-4BE1-9B82-455076120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1360" y="1136406"/>
            <a:ext cx="3492742" cy="229259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655A25B-AC1F-4158-9ABB-00D93C95F6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282" y="3890837"/>
            <a:ext cx="5076690" cy="2064229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8724B31-E542-496C-A439-036640A2FC23}"/>
              </a:ext>
            </a:extLst>
          </p:cNvPr>
          <p:cNvSpPr txBox="1"/>
          <p:nvPr/>
        </p:nvSpPr>
        <p:spPr>
          <a:xfrm>
            <a:off x="5238616" y="4437944"/>
            <a:ext cx="3848102" cy="880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3. </a:t>
            </a:r>
            <a:r>
              <a:rPr lang="ko-KR" altLang="en-US" dirty="0"/>
              <a:t>캡</a:t>
            </a:r>
            <a:r>
              <a:rPr lang="en-US" altLang="ko-KR" dirty="0"/>
              <a:t>3</a:t>
            </a:r>
            <a:r>
              <a:rPr lang="ko-KR" altLang="en-US" dirty="0"/>
              <a:t>버전</a:t>
            </a:r>
            <a:r>
              <a:rPr lang="en-US" altLang="ko-KR" dirty="0"/>
              <a:t>: </a:t>
            </a:r>
            <a:r>
              <a:rPr lang="ko-KR" altLang="en-US" dirty="0"/>
              <a:t>내</a:t>
            </a:r>
            <a:r>
              <a:rPr lang="en-US" altLang="ko-KR" dirty="0"/>
              <a:t>/</a:t>
            </a:r>
            <a:r>
              <a:rPr lang="ko-KR" altLang="en-US" dirty="0" err="1"/>
              <a:t>외캡</a:t>
            </a:r>
            <a:r>
              <a:rPr lang="ko-KR" altLang="en-US" dirty="0"/>
              <a:t> </a:t>
            </a:r>
            <a:r>
              <a:rPr lang="ko-KR" altLang="en-US" dirty="0" err="1"/>
              <a:t>로레트방식구조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 </a:t>
            </a:r>
            <a:r>
              <a:rPr lang="ko-KR" altLang="en-US" dirty="0"/>
              <a:t>톱니바퀴 맞물리는 구조</a:t>
            </a:r>
            <a:r>
              <a:rPr lang="en-US" altLang="ko-KR" dirty="0"/>
              <a:t>+</a:t>
            </a:r>
            <a:r>
              <a:rPr lang="ko-KR" altLang="en-US" dirty="0" err="1"/>
              <a:t>핫멜트</a:t>
            </a: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854E8863-48C5-4B9F-9C61-9E54E31CD2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67" y="1151127"/>
            <a:ext cx="1597793" cy="227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785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5F266-C4C8-294E-03D4-05268B51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1">
            <a:extLst>
              <a:ext uri="{FF2B5EF4-FFF2-40B4-BE49-F238E27FC236}">
                <a16:creationId xmlns:a16="http://schemas.microsoft.com/office/drawing/2014/main" id="{584121FC-9492-7913-ABA1-FA5F20C5D610}"/>
              </a:ext>
            </a:extLst>
          </p:cNvPr>
          <p:cNvCxnSpPr>
            <a:cxnSpLocks/>
          </p:cNvCxnSpPr>
          <p:nvPr/>
        </p:nvCxnSpPr>
        <p:spPr>
          <a:xfrm>
            <a:off x="-7465" y="477624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074625E-225F-336C-6390-680CF3005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991" y="129822"/>
            <a:ext cx="681791" cy="2522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EF946A-D219-E9EA-E4CC-44E3A2787A6E}"/>
              </a:ext>
            </a:extLst>
          </p:cNvPr>
          <p:cNvSpPr txBox="1"/>
          <p:nvPr/>
        </p:nvSpPr>
        <p:spPr>
          <a:xfrm>
            <a:off x="2954" y="80884"/>
            <a:ext cx="4818427" cy="3694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1" b="1" i="0" u="none" strike="noStrike" kern="1200" cap="none" spc="0" normalizeH="0" baseline="0" noProof="0" dirty="0" err="1">
                <a:ln>
                  <a:noFill/>
                </a:ln>
                <a:solidFill>
                  <a:srgbClr val="4E1227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퍼펙트트윈립</a:t>
            </a:r>
            <a:r>
              <a:rPr kumimoji="0" lang="ko-KR" altLang="en-US" sz="1801" b="1" i="0" u="none" strike="noStrike" kern="1200" cap="none" spc="0" normalizeH="0" baseline="0" noProof="0" dirty="0">
                <a:ln>
                  <a:noFill/>
                </a:ln>
                <a:solidFill>
                  <a:srgbClr val="4E1227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 부자재 불량이슈</a:t>
            </a:r>
            <a:endParaRPr kumimoji="0" lang="en-US" altLang="ko-KR" sz="1801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Bold" panose="020B0800000000000000" pitchFamily="34" charset="-127"/>
              <a:ea typeface="Noto Sans CJK KR Bold" panose="020B0800000000000000" pitchFamily="34" charset="-127"/>
              <a:cs typeface="+mn-cs"/>
            </a:endParaRPr>
          </a:p>
        </p:txBody>
      </p:sp>
      <p:cxnSp>
        <p:nvCxnSpPr>
          <p:cNvPr id="14" name="직선 연결선[R] 1">
            <a:extLst>
              <a:ext uri="{FF2B5EF4-FFF2-40B4-BE49-F238E27FC236}">
                <a16:creationId xmlns:a16="http://schemas.microsoft.com/office/drawing/2014/main" id="{25D6C786-DC4C-4584-AE0A-04D6B68BB939}"/>
              </a:ext>
            </a:extLst>
          </p:cNvPr>
          <p:cNvCxnSpPr>
            <a:cxnSpLocks/>
          </p:cNvCxnSpPr>
          <p:nvPr/>
        </p:nvCxnSpPr>
        <p:spPr>
          <a:xfrm>
            <a:off x="-20146" y="6071766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">
            <a:extLst>
              <a:ext uri="{FF2B5EF4-FFF2-40B4-BE49-F238E27FC236}">
                <a16:creationId xmlns:a16="http://schemas.microsoft.com/office/drawing/2014/main" id="{B1B84F2B-0862-463E-8069-78A1DD4575B7}"/>
              </a:ext>
            </a:extLst>
          </p:cNvPr>
          <p:cNvCxnSpPr>
            <a:cxnSpLocks/>
          </p:cNvCxnSpPr>
          <p:nvPr/>
        </p:nvCxnSpPr>
        <p:spPr>
          <a:xfrm>
            <a:off x="-10073" y="893039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7F83DC2-6CB2-4DD9-87CC-5960485C60ED}"/>
              </a:ext>
            </a:extLst>
          </p:cNvPr>
          <p:cNvSpPr txBox="1"/>
          <p:nvPr/>
        </p:nvSpPr>
        <p:spPr>
          <a:xfrm>
            <a:off x="13567" y="475800"/>
            <a:ext cx="4807814" cy="3693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 err="1">
                <a:solidFill>
                  <a:prstClr val="black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캡분리</a:t>
            </a:r>
            <a:r>
              <a:rPr lang="ko-KR" altLang="en-US" dirty="0">
                <a:solidFill>
                  <a:prstClr val="black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</a:t>
            </a:r>
            <a:r>
              <a:rPr lang="ko-KR" altLang="en-US" dirty="0" err="1">
                <a:solidFill>
                  <a:prstClr val="black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개선품</a:t>
            </a:r>
            <a:r>
              <a:rPr lang="en-US" altLang="ko-KR" dirty="0">
                <a:solidFill>
                  <a:prstClr val="black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: </a:t>
            </a:r>
            <a:r>
              <a:rPr lang="ko-KR" altLang="en-US" dirty="0" err="1">
                <a:solidFill>
                  <a:prstClr val="black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언더컷</a:t>
            </a:r>
            <a:r>
              <a:rPr lang="ko-KR" altLang="en-US" dirty="0">
                <a:solidFill>
                  <a:prstClr val="black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구조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Bold" panose="020B0800000000000000" pitchFamily="34" charset="-127"/>
              <a:ea typeface="Noto Sans CJK KR Bold" panose="020B0800000000000000" pitchFamily="34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C548BE9-60C9-292F-C353-6CD447E8A9DC}"/>
              </a:ext>
            </a:extLst>
          </p:cNvPr>
          <p:cNvSpPr txBox="1"/>
          <p:nvPr/>
        </p:nvSpPr>
        <p:spPr>
          <a:xfrm>
            <a:off x="5198148" y="2202538"/>
            <a:ext cx="3929038" cy="15314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캡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버전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언더컷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구조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금형증작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품질팀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디자인팀 구조 개선 확인완료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3. 5</a:t>
            </a:r>
            <a:r>
              <a:rPr lang="ko-KR" altLang="en-US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월말 제조사 </a:t>
            </a:r>
            <a:r>
              <a:rPr lang="en-US" altLang="ko-KR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TEST </a:t>
            </a:r>
            <a:r>
              <a:rPr lang="ko-KR" altLang="en-US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후 즉시적용</a:t>
            </a:r>
            <a:endParaRPr lang="en-US" altLang="ko-KR" sz="16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4. </a:t>
            </a:r>
            <a:r>
              <a:rPr lang="ko-KR" altLang="en-US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일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4</a:t>
            </a: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만개 납품 예상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D15EDD-8F21-47A8-B226-D851092468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218" y="1104487"/>
            <a:ext cx="2197705" cy="2429493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D2DD157-AD64-4128-BEDB-4764FE2CAA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5924" y="1092728"/>
            <a:ext cx="2675348" cy="2441252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9698A8-E897-4BDB-828E-4271AD42E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5958" y="3598387"/>
            <a:ext cx="2341910" cy="2419222"/>
          </a:xfrm>
          <a:prstGeom prst="rect">
            <a:avLst/>
          </a:prstGeom>
        </p:spPr>
      </p:pic>
      <p:cxnSp>
        <p:nvCxnSpPr>
          <p:cNvPr id="17" name="직선 연결선[R] 1">
            <a:extLst>
              <a:ext uri="{FF2B5EF4-FFF2-40B4-BE49-F238E27FC236}">
                <a16:creationId xmlns:a16="http://schemas.microsoft.com/office/drawing/2014/main" id="{35129E42-08CD-4429-9C44-90894C549CAC}"/>
              </a:ext>
            </a:extLst>
          </p:cNvPr>
          <p:cNvCxnSpPr>
            <a:cxnSpLocks/>
          </p:cNvCxnSpPr>
          <p:nvPr/>
        </p:nvCxnSpPr>
        <p:spPr>
          <a:xfrm>
            <a:off x="5157680" y="893039"/>
            <a:ext cx="80936" cy="5178727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54952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75F266-C4C8-294E-03D4-05268B510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1">
            <a:extLst>
              <a:ext uri="{FF2B5EF4-FFF2-40B4-BE49-F238E27FC236}">
                <a16:creationId xmlns:a16="http://schemas.microsoft.com/office/drawing/2014/main" id="{584121FC-9492-7913-ABA1-FA5F20C5D610}"/>
              </a:ext>
            </a:extLst>
          </p:cNvPr>
          <p:cNvCxnSpPr>
            <a:cxnSpLocks/>
          </p:cNvCxnSpPr>
          <p:nvPr/>
        </p:nvCxnSpPr>
        <p:spPr>
          <a:xfrm>
            <a:off x="-7465" y="477624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E074625E-225F-336C-6390-680CF3005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991" y="129822"/>
            <a:ext cx="681791" cy="2522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5EF946A-D219-E9EA-E4CC-44E3A2787A6E}"/>
              </a:ext>
            </a:extLst>
          </p:cNvPr>
          <p:cNvSpPr txBox="1"/>
          <p:nvPr/>
        </p:nvSpPr>
        <p:spPr>
          <a:xfrm>
            <a:off x="2954" y="80884"/>
            <a:ext cx="4818427" cy="3694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1" b="1" i="0" u="none" strike="noStrike" kern="1200" cap="none" spc="0" normalizeH="0" baseline="0" noProof="0" dirty="0" err="1">
                <a:ln>
                  <a:noFill/>
                </a:ln>
                <a:solidFill>
                  <a:srgbClr val="4E1227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퍼펙트트윈립</a:t>
            </a:r>
            <a:r>
              <a:rPr kumimoji="0" lang="ko-KR" altLang="en-US" sz="1801" b="1" i="0" u="none" strike="noStrike" kern="1200" cap="none" spc="0" normalizeH="0" baseline="0" noProof="0" dirty="0">
                <a:ln>
                  <a:noFill/>
                </a:ln>
                <a:solidFill>
                  <a:srgbClr val="4E1227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 부자재 불량이슈</a:t>
            </a:r>
            <a:endParaRPr kumimoji="0" lang="en-US" altLang="ko-KR" sz="1801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Bold" panose="020B0800000000000000" pitchFamily="34" charset="-127"/>
              <a:ea typeface="Noto Sans CJK KR Bold" panose="020B0800000000000000" pitchFamily="34" charset="-127"/>
              <a:cs typeface="+mn-cs"/>
            </a:endParaRPr>
          </a:p>
        </p:txBody>
      </p:sp>
      <p:cxnSp>
        <p:nvCxnSpPr>
          <p:cNvPr id="14" name="직선 연결선[R] 1">
            <a:extLst>
              <a:ext uri="{FF2B5EF4-FFF2-40B4-BE49-F238E27FC236}">
                <a16:creationId xmlns:a16="http://schemas.microsoft.com/office/drawing/2014/main" id="{25D6C786-DC4C-4584-AE0A-04D6B68BB939}"/>
              </a:ext>
            </a:extLst>
          </p:cNvPr>
          <p:cNvCxnSpPr>
            <a:cxnSpLocks/>
          </p:cNvCxnSpPr>
          <p:nvPr/>
        </p:nvCxnSpPr>
        <p:spPr>
          <a:xfrm>
            <a:off x="-20146" y="6071766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">
            <a:extLst>
              <a:ext uri="{FF2B5EF4-FFF2-40B4-BE49-F238E27FC236}">
                <a16:creationId xmlns:a16="http://schemas.microsoft.com/office/drawing/2014/main" id="{B1B84F2B-0862-463E-8069-78A1DD4575B7}"/>
              </a:ext>
            </a:extLst>
          </p:cNvPr>
          <p:cNvCxnSpPr>
            <a:cxnSpLocks/>
          </p:cNvCxnSpPr>
          <p:nvPr/>
        </p:nvCxnSpPr>
        <p:spPr>
          <a:xfrm>
            <a:off x="-10073" y="893039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7F83DC2-6CB2-4DD9-87CC-5960485C60ED}"/>
              </a:ext>
            </a:extLst>
          </p:cNvPr>
          <p:cNvSpPr txBox="1"/>
          <p:nvPr/>
        </p:nvSpPr>
        <p:spPr>
          <a:xfrm>
            <a:off x="13567" y="475800"/>
            <a:ext cx="4807814" cy="3693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외캡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+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내캡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탈리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oto Sans CJK KR Bold" panose="020B0800000000000000" pitchFamily="34" charset="-127"/>
                <a:ea typeface="Noto Sans CJK KR Bold" panose="020B0800000000000000" pitchFamily="34" charset="-127"/>
                <a:cs typeface="+mn-cs"/>
              </a:rPr>
              <a:t> 불량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Noto Sans CJK KR Bold" panose="020B0800000000000000" pitchFamily="34" charset="-127"/>
              <a:ea typeface="Noto Sans CJK KR Bold" panose="020B0800000000000000" pitchFamily="34" charset="-127"/>
              <a:cs typeface="+mn-cs"/>
            </a:endParaRPr>
          </a:p>
        </p:txBody>
      </p:sp>
      <p:cxnSp>
        <p:nvCxnSpPr>
          <p:cNvPr id="12" name="직선 연결선[R] 1">
            <a:extLst>
              <a:ext uri="{FF2B5EF4-FFF2-40B4-BE49-F238E27FC236}">
                <a16:creationId xmlns:a16="http://schemas.microsoft.com/office/drawing/2014/main" id="{A0C1B2F6-2C74-9C53-AB4C-49EE83F84B55}"/>
              </a:ext>
            </a:extLst>
          </p:cNvPr>
          <p:cNvCxnSpPr>
            <a:cxnSpLocks/>
          </p:cNvCxnSpPr>
          <p:nvPr/>
        </p:nvCxnSpPr>
        <p:spPr>
          <a:xfrm>
            <a:off x="5238750" y="893039"/>
            <a:ext cx="0" cy="5178727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DC548BE9-60C9-292F-C353-6CD447E8A9DC}"/>
              </a:ext>
            </a:extLst>
          </p:cNvPr>
          <p:cNvSpPr txBox="1"/>
          <p:nvPr/>
        </p:nvSpPr>
        <p:spPr>
          <a:xfrm>
            <a:off x="5343529" y="2362200"/>
            <a:ext cx="3848102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-</a:t>
            </a:r>
            <a:r>
              <a:rPr lang="ko-KR" altLang="en-US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설계 구조상 </a:t>
            </a:r>
            <a:r>
              <a:rPr lang="ko-KR" altLang="en-US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언더컷</a:t>
            </a:r>
            <a:r>
              <a:rPr lang="ko-KR" altLang="en-US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구조가</a:t>
            </a:r>
            <a:endParaRPr lang="en-US" altLang="ko-KR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</a:t>
            </a:r>
            <a:r>
              <a:rPr lang="ko-KR" altLang="en-US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아닌 </a:t>
            </a:r>
            <a:r>
              <a:rPr lang="ko-KR" altLang="en-US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핫멜트</a:t>
            </a:r>
            <a:r>
              <a:rPr lang="ko-KR" altLang="en-US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방식으로 불량</a:t>
            </a:r>
            <a:endParaRPr lang="en-US" altLang="ko-KR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 </a:t>
            </a:r>
            <a:r>
              <a:rPr lang="ko-KR" altLang="en-US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RISK</a:t>
            </a:r>
            <a:r>
              <a:rPr lang="ko-KR" altLang="en-US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높아 불량 발생 당시 </a:t>
            </a:r>
            <a:endParaRPr lang="en-US" altLang="ko-KR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  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언더컷구조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 요청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- </a:t>
            </a:r>
            <a:r>
              <a:rPr lang="ko-KR" altLang="en-US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납기일정으로 금형 수정 </a:t>
            </a:r>
            <a:r>
              <a:rPr lang="ko-KR" altLang="en-US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미진행</a:t>
            </a:r>
            <a:r>
              <a:rPr lang="ko-KR" altLang="en-US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endParaRPr lang="en-US" altLang="ko-KR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언더컷</a:t>
            </a:r>
            <a:r>
              <a:rPr lang="ko-KR" altLang="en-US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구조 금형 </a:t>
            </a:r>
            <a:r>
              <a:rPr lang="ko-KR" altLang="en-US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증착하여</a:t>
            </a:r>
            <a:r>
              <a:rPr lang="ko-KR" altLang="en-US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개선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744319E-2527-4AF5-92CE-6D1431E850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09" y="1751203"/>
            <a:ext cx="4958130" cy="3355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515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463B0-6692-B558-324C-AE163D82E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1">
            <a:extLst>
              <a:ext uri="{FF2B5EF4-FFF2-40B4-BE49-F238E27FC236}">
                <a16:creationId xmlns:a16="http://schemas.microsoft.com/office/drawing/2014/main" id="{E3294CB0-1645-1525-ED64-8ECA695A7C50}"/>
              </a:ext>
            </a:extLst>
          </p:cNvPr>
          <p:cNvCxnSpPr>
            <a:cxnSpLocks/>
          </p:cNvCxnSpPr>
          <p:nvPr/>
        </p:nvCxnSpPr>
        <p:spPr>
          <a:xfrm>
            <a:off x="-7465" y="477624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214C312A-A633-895F-BBED-998ABA7BB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991" y="129822"/>
            <a:ext cx="681791" cy="2522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3480E7F-9BF7-7B88-4114-3FDE926A6D53}"/>
              </a:ext>
            </a:extLst>
          </p:cNvPr>
          <p:cNvSpPr txBox="1"/>
          <p:nvPr/>
        </p:nvSpPr>
        <p:spPr>
          <a:xfrm>
            <a:off x="2954" y="80884"/>
            <a:ext cx="4818427" cy="3694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ko-KR" altLang="en-US" sz="1801" b="1" dirty="0" err="1">
                <a:solidFill>
                  <a:srgbClr val="4E1227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퍼펙트트윈립</a:t>
            </a:r>
            <a:r>
              <a:rPr lang="ko-KR" altLang="en-US" sz="1801" b="1" dirty="0">
                <a:solidFill>
                  <a:srgbClr val="4E1227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부자재 불량이슈</a:t>
            </a:r>
            <a:endParaRPr lang="en-US" altLang="ko-KR" sz="1801" b="1" dirty="0">
              <a:solidFill>
                <a:srgbClr val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cxnSp>
        <p:nvCxnSpPr>
          <p:cNvPr id="14" name="직선 연결선[R] 1">
            <a:extLst>
              <a:ext uri="{FF2B5EF4-FFF2-40B4-BE49-F238E27FC236}">
                <a16:creationId xmlns:a16="http://schemas.microsoft.com/office/drawing/2014/main" id="{0E47CF62-969B-DBAE-D137-A740B363F2E6}"/>
              </a:ext>
            </a:extLst>
          </p:cNvPr>
          <p:cNvCxnSpPr>
            <a:cxnSpLocks/>
          </p:cNvCxnSpPr>
          <p:nvPr/>
        </p:nvCxnSpPr>
        <p:spPr>
          <a:xfrm>
            <a:off x="-20146" y="6338466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[R] 1">
            <a:extLst>
              <a:ext uri="{FF2B5EF4-FFF2-40B4-BE49-F238E27FC236}">
                <a16:creationId xmlns:a16="http://schemas.microsoft.com/office/drawing/2014/main" id="{FA28B133-165F-B6F7-94FE-EA1B5B46C6F1}"/>
              </a:ext>
            </a:extLst>
          </p:cNvPr>
          <p:cNvCxnSpPr>
            <a:cxnSpLocks/>
          </p:cNvCxnSpPr>
          <p:nvPr/>
        </p:nvCxnSpPr>
        <p:spPr>
          <a:xfrm>
            <a:off x="-10073" y="893039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AF482F4-CE26-6786-86B7-CADBDF15F8A4}"/>
              </a:ext>
            </a:extLst>
          </p:cNvPr>
          <p:cNvSpPr txBox="1"/>
          <p:nvPr/>
        </p:nvSpPr>
        <p:spPr>
          <a:xfrm>
            <a:off x="13567" y="475800"/>
            <a:ext cx="3234457" cy="3693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캡 수축불량</a:t>
            </a:r>
            <a:endParaRPr lang="en-US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cxnSp>
        <p:nvCxnSpPr>
          <p:cNvPr id="12" name="직선 연결선[R] 1">
            <a:extLst>
              <a:ext uri="{FF2B5EF4-FFF2-40B4-BE49-F238E27FC236}">
                <a16:creationId xmlns:a16="http://schemas.microsoft.com/office/drawing/2014/main" id="{F5C93D24-FFE8-FB61-932D-0860D3C3E71C}"/>
              </a:ext>
            </a:extLst>
          </p:cNvPr>
          <p:cNvCxnSpPr>
            <a:cxnSpLocks/>
          </p:cNvCxnSpPr>
          <p:nvPr/>
        </p:nvCxnSpPr>
        <p:spPr>
          <a:xfrm>
            <a:off x="5238750" y="893039"/>
            <a:ext cx="0" cy="5445427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E948C3C7-0E92-9F6E-E28F-1FA6C39FB43C}"/>
              </a:ext>
            </a:extLst>
          </p:cNvPr>
          <p:cNvSpPr txBox="1"/>
          <p:nvPr/>
        </p:nvSpPr>
        <p:spPr>
          <a:xfrm>
            <a:off x="5295898" y="2761191"/>
            <a:ext cx="3848102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/>
              <a:t>LAKA </a:t>
            </a:r>
            <a:r>
              <a:rPr lang="ko-KR" altLang="en-US" dirty="0"/>
              <a:t>로고 패드 인쇄 시 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     </a:t>
            </a:r>
            <a:r>
              <a:rPr lang="ko-KR" altLang="en-US" dirty="0"/>
              <a:t>열로 인한 수축현상 </a:t>
            </a:r>
            <a:endParaRPr lang="en-US" altLang="ko-KR" dirty="0"/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/>
              <a:t>업체 개선완료  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6A3B00C-0245-4958-AD4E-CD1483DB1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8560" y="1368508"/>
            <a:ext cx="2067213" cy="4458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993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0629DD-4E4D-C75A-BE7E-724C93CE8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[R] 1">
            <a:extLst>
              <a:ext uri="{FF2B5EF4-FFF2-40B4-BE49-F238E27FC236}">
                <a16:creationId xmlns:a16="http://schemas.microsoft.com/office/drawing/2014/main" id="{02FA487B-CFC6-2F0B-FCDE-E9424BAEC71E}"/>
              </a:ext>
            </a:extLst>
          </p:cNvPr>
          <p:cNvCxnSpPr>
            <a:cxnSpLocks/>
          </p:cNvCxnSpPr>
          <p:nvPr/>
        </p:nvCxnSpPr>
        <p:spPr>
          <a:xfrm>
            <a:off x="-7465" y="477624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331E5412-CB40-C233-F2B0-09D3B7A89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3991" y="129822"/>
            <a:ext cx="681791" cy="25220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E9C1B1-71D9-BC81-D3B4-17744C937659}"/>
              </a:ext>
            </a:extLst>
          </p:cNvPr>
          <p:cNvSpPr txBox="1"/>
          <p:nvPr/>
        </p:nvSpPr>
        <p:spPr>
          <a:xfrm>
            <a:off x="2954" y="80884"/>
            <a:ext cx="4818427" cy="36946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lvl="0">
              <a:defRPr/>
            </a:pPr>
            <a:r>
              <a:rPr lang="ko-KR" altLang="en-US" sz="1801" b="1" dirty="0" err="1">
                <a:solidFill>
                  <a:srgbClr val="4E1227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퍼펙트트윈립</a:t>
            </a:r>
            <a:r>
              <a:rPr lang="ko-KR" altLang="en-US" sz="1801" b="1" dirty="0">
                <a:solidFill>
                  <a:srgbClr val="4E1227"/>
                </a:solidFill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부자재 불량이슈</a:t>
            </a:r>
            <a:endParaRPr lang="en-US" altLang="ko-KR" sz="1801" b="1" dirty="0">
              <a:solidFill>
                <a:srgbClr val="000000"/>
              </a:solidFill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cxnSp>
        <p:nvCxnSpPr>
          <p:cNvPr id="18" name="직선 연결선[R] 1">
            <a:extLst>
              <a:ext uri="{FF2B5EF4-FFF2-40B4-BE49-F238E27FC236}">
                <a16:creationId xmlns:a16="http://schemas.microsoft.com/office/drawing/2014/main" id="{1AE405D8-0B23-5BA1-1E24-CE43BFF1D07F}"/>
              </a:ext>
            </a:extLst>
          </p:cNvPr>
          <p:cNvCxnSpPr>
            <a:cxnSpLocks/>
          </p:cNvCxnSpPr>
          <p:nvPr/>
        </p:nvCxnSpPr>
        <p:spPr>
          <a:xfrm>
            <a:off x="-10073" y="893039"/>
            <a:ext cx="9164146" cy="6252"/>
          </a:xfrm>
          <a:prstGeom prst="line">
            <a:avLst/>
          </a:prstGeom>
          <a:ln w="12700">
            <a:solidFill>
              <a:srgbClr val="4E1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DBADE49B-96C8-DA79-D555-241F1E41FB03}"/>
              </a:ext>
            </a:extLst>
          </p:cNvPr>
          <p:cNvSpPr txBox="1"/>
          <p:nvPr/>
        </p:nvSpPr>
        <p:spPr>
          <a:xfrm>
            <a:off x="13567" y="475800"/>
            <a:ext cx="4217770" cy="36933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1" rIns="91440" bIns="45721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부자재 용기</a:t>
            </a:r>
            <a:r>
              <a:rPr lang="en-US" altLang="ko-KR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, </a:t>
            </a:r>
            <a:r>
              <a:rPr lang="ko-KR" altLang="en-US" dirty="0" err="1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중캡</a:t>
            </a:r>
            <a:r>
              <a:rPr lang="ko-KR" altLang="en-US" dirty="0">
                <a:latin typeface="Noto Sans CJK KR Bold" panose="020B0800000000000000" pitchFamily="34" charset="-127"/>
                <a:ea typeface="Noto Sans CJK KR Bold" panose="020B0800000000000000" pitchFamily="34" charset="-127"/>
              </a:rPr>
              <a:t> 금형 이슈 건</a:t>
            </a:r>
            <a:endParaRPr lang="en-US" dirty="0">
              <a:latin typeface="Noto Sans CJK KR Bold" panose="020B0800000000000000" pitchFamily="34" charset="-127"/>
              <a:ea typeface="Noto Sans CJK KR Bold" panose="020B0800000000000000" pitchFamily="34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6BDFFD-BB7B-27A5-735A-05233A47B76A}"/>
              </a:ext>
            </a:extLst>
          </p:cNvPr>
          <p:cNvSpPr txBox="1"/>
          <p:nvPr/>
        </p:nvSpPr>
        <p:spPr>
          <a:xfrm>
            <a:off x="13566" y="1201285"/>
            <a:ext cx="9130434" cy="48996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</a:rPr>
              <a:t>[</a:t>
            </a:r>
            <a:r>
              <a:rPr lang="ko-KR" altLang="en-US" dirty="0">
                <a:solidFill>
                  <a:srgbClr val="FF0000"/>
                </a:solidFill>
              </a:rPr>
              <a:t>금형 이슈 사항</a:t>
            </a:r>
            <a:r>
              <a:rPr lang="en-US" altLang="ko-KR" dirty="0">
                <a:solidFill>
                  <a:srgbClr val="FF0000"/>
                </a:solidFill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FF0000"/>
                </a:solidFill>
              </a:rPr>
              <a:t>*</a:t>
            </a:r>
            <a:r>
              <a:rPr lang="ko-KR" altLang="en-US" sz="1600" b="1" dirty="0">
                <a:solidFill>
                  <a:srgbClr val="FF0000"/>
                </a:solidFill>
              </a:rPr>
              <a:t>사출 금형의 경우 주기적으로 </a:t>
            </a:r>
            <a:r>
              <a:rPr lang="en-US" altLang="ko-KR" sz="1600" b="1" dirty="0">
                <a:solidFill>
                  <a:srgbClr val="FF0000"/>
                </a:solidFill>
              </a:rPr>
              <a:t>4</a:t>
            </a:r>
            <a:r>
              <a:rPr lang="ko-KR" altLang="en-US" sz="1600" b="1" dirty="0" err="1">
                <a:solidFill>
                  <a:srgbClr val="FF0000"/>
                </a:solidFill>
              </a:rPr>
              <a:t>만타</a:t>
            </a:r>
            <a:r>
              <a:rPr lang="ko-KR" altLang="en-US" sz="1600" b="1" dirty="0">
                <a:solidFill>
                  <a:srgbClr val="FF0000"/>
                </a:solidFill>
              </a:rPr>
              <a:t> 사출 후 </a:t>
            </a:r>
            <a:r>
              <a:rPr lang="ko-KR" altLang="en-US" sz="1600" b="1" dirty="0" err="1">
                <a:solidFill>
                  <a:srgbClr val="FF0000"/>
                </a:solidFill>
              </a:rPr>
              <a:t>금형관리하여</a:t>
            </a:r>
            <a:r>
              <a:rPr lang="ko-KR" altLang="en-US" sz="1600" b="1" dirty="0">
                <a:solidFill>
                  <a:srgbClr val="FF0000"/>
                </a:solidFill>
              </a:rPr>
              <a:t> 마모 시 수정해야 하는 사항 </a:t>
            </a:r>
            <a:r>
              <a:rPr lang="en-US" altLang="ko-KR" sz="1600" b="1" dirty="0">
                <a:solidFill>
                  <a:srgbClr val="FF0000"/>
                </a:solidFill>
              </a:rPr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유림 초과됨</a:t>
            </a:r>
            <a:r>
              <a:rPr lang="en-US" altLang="ko-KR" sz="1600" b="1" dirty="0">
                <a:solidFill>
                  <a:srgbClr val="FF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endParaRPr lang="en-US" altLang="ko-KR" sz="1600" b="1" dirty="0">
              <a:solidFill>
                <a:srgbClr val="FF0000"/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ko-KR" altLang="en-US" sz="1600" b="1" dirty="0">
                <a:solidFill>
                  <a:srgbClr val="0000CC"/>
                </a:solidFill>
              </a:rPr>
              <a:t>부자재 금형 수리 진행 </a:t>
            </a:r>
            <a:r>
              <a:rPr lang="ko-KR" altLang="en-US" sz="1600" b="1" dirty="0" err="1">
                <a:solidFill>
                  <a:srgbClr val="0000CC"/>
                </a:solidFill>
              </a:rPr>
              <a:t>안할</a:t>
            </a:r>
            <a:r>
              <a:rPr lang="ko-KR" altLang="en-US" sz="1600" b="1" dirty="0">
                <a:solidFill>
                  <a:srgbClr val="0000CC"/>
                </a:solidFill>
              </a:rPr>
              <a:t> 시 발생하는 불량 유형 </a:t>
            </a:r>
            <a:endParaRPr lang="en-US" altLang="ko-KR" sz="1600" b="1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00CC"/>
                </a:solidFill>
              </a:rPr>
              <a:t>  -&gt; </a:t>
            </a:r>
            <a:r>
              <a:rPr lang="ko-KR" altLang="en-US" sz="1600" b="1" dirty="0">
                <a:solidFill>
                  <a:srgbClr val="0000CC"/>
                </a:solidFill>
              </a:rPr>
              <a:t>고정 불량으로 인한 생산수량 부족으로 생산</a:t>
            </a:r>
            <a:r>
              <a:rPr lang="en-US" altLang="ko-KR" sz="1600" b="1" dirty="0" err="1">
                <a:solidFill>
                  <a:srgbClr val="0000CC"/>
                </a:solidFill>
              </a:rPr>
              <a:t>capa</a:t>
            </a:r>
            <a:r>
              <a:rPr lang="en-US" altLang="ko-KR" sz="1600" b="1" dirty="0">
                <a:solidFill>
                  <a:srgbClr val="0000CC"/>
                </a:solidFill>
              </a:rPr>
              <a:t> </a:t>
            </a:r>
            <a:r>
              <a:rPr lang="ko-KR" altLang="en-US" sz="1600" b="1" dirty="0">
                <a:solidFill>
                  <a:srgbClr val="0000CC"/>
                </a:solidFill>
              </a:rPr>
              <a:t>차질 및 납품수량 </a:t>
            </a:r>
            <a:r>
              <a:rPr lang="en-US" altLang="ko-KR" sz="1600" b="1" dirty="0">
                <a:solidFill>
                  <a:srgbClr val="0000CC"/>
                </a:solidFill>
              </a:rPr>
              <a:t>Down</a:t>
            </a:r>
          </a:p>
          <a:p>
            <a:pPr>
              <a:lnSpc>
                <a:spcPct val="150000"/>
              </a:lnSpc>
            </a:pPr>
            <a:endParaRPr lang="ko-KR" altLang="en-US" sz="1600" b="1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00CC"/>
                </a:solidFill>
              </a:rPr>
              <a:t>2. </a:t>
            </a:r>
            <a:r>
              <a:rPr lang="ko-KR" altLang="en-US" sz="1600" b="1" dirty="0" err="1">
                <a:solidFill>
                  <a:srgbClr val="0000CC"/>
                </a:solidFill>
              </a:rPr>
              <a:t>금형수리</a:t>
            </a:r>
            <a:r>
              <a:rPr lang="ko-KR" altLang="en-US" sz="1600" b="1" dirty="0">
                <a:solidFill>
                  <a:srgbClr val="0000CC"/>
                </a:solidFill>
              </a:rPr>
              <a:t> 시 소요되는 시간 및 발주정지 일수  </a:t>
            </a:r>
            <a:endParaRPr lang="en-US" altLang="ko-KR" sz="1600" b="1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00CC"/>
                </a:solidFill>
              </a:rPr>
              <a:t>  -&gt; </a:t>
            </a:r>
            <a:r>
              <a:rPr lang="ko-KR" altLang="en-US" sz="1600" b="1" dirty="0">
                <a:solidFill>
                  <a:srgbClr val="0000CC"/>
                </a:solidFill>
              </a:rPr>
              <a:t>수리기간 </a:t>
            </a:r>
            <a:r>
              <a:rPr lang="en-US" altLang="ko-KR" sz="1600" b="1" dirty="0">
                <a:solidFill>
                  <a:srgbClr val="0000CC"/>
                </a:solidFill>
              </a:rPr>
              <a:t>1.5-2</a:t>
            </a:r>
            <a:r>
              <a:rPr lang="ko-KR" altLang="en-US" sz="1600" b="1" dirty="0">
                <a:solidFill>
                  <a:srgbClr val="0000CC"/>
                </a:solidFill>
              </a:rPr>
              <a:t>일 </a:t>
            </a:r>
            <a:r>
              <a:rPr lang="en-US" altLang="ko-KR" sz="1600" b="1" dirty="0">
                <a:solidFill>
                  <a:srgbClr val="0000CC"/>
                </a:solidFill>
              </a:rPr>
              <a:t>/ </a:t>
            </a:r>
            <a:r>
              <a:rPr lang="ko-KR" altLang="en-US" sz="1600" b="1" dirty="0">
                <a:solidFill>
                  <a:srgbClr val="0000CC"/>
                </a:solidFill>
              </a:rPr>
              <a:t>수리시점기준 약 </a:t>
            </a:r>
            <a:r>
              <a:rPr lang="en-US" altLang="ko-KR" sz="1600" b="1" dirty="0">
                <a:solidFill>
                  <a:srgbClr val="0000CC"/>
                </a:solidFill>
              </a:rPr>
              <a:t>40k </a:t>
            </a:r>
            <a:r>
              <a:rPr lang="ko-KR" altLang="en-US" sz="1600" b="1" dirty="0">
                <a:solidFill>
                  <a:srgbClr val="0000CC"/>
                </a:solidFill>
              </a:rPr>
              <a:t>출고 수량 감소</a:t>
            </a:r>
            <a:endParaRPr lang="en-US" altLang="ko-KR" sz="1600" b="1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endParaRPr lang="ko-KR" altLang="en-US" sz="1600" b="1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b="1" dirty="0">
                <a:solidFill>
                  <a:srgbClr val="0000CC"/>
                </a:solidFill>
              </a:rPr>
              <a:t>3. </a:t>
            </a:r>
            <a:r>
              <a:rPr lang="ko-KR" altLang="en-US" sz="1600" b="1" dirty="0" err="1">
                <a:solidFill>
                  <a:srgbClr val="0000CC"/>
                </a:solidFill>
              </a:rPr>
              <a:t>언더컷</a:t>
            </a:r>
            <a:r>
              <a:rPr lang="ko-KR" altLang="en-US" sz="1600" b="1" dirty="0">
                <a:solidFill>
                  <a:srgbClr val="0000CC"/>
                </a:solidFill>
              </a:rPr>
              <a:t> 구조 적용일자 </a:t>
            </a:r>
            <a:endParaRPr lang="en-US" altLang="ko-KR" sz="1600" b="1" dirty="0">
              <a:solidFill>
                <a:srgbClr val="0000CC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/>
              <a:t>   </a:t>
            </a:r>
            <a:r>
              <a:rPr lang="en-US" altLang="ko-KR" sz="1600" dirty="0">
                <a:solidFill>
                  <a:srgbClr val="0000CC"/>
                </a:solidFill>
              </a:rPr>
              <a:t>-&gt;</a:t>
            </a:r>
            <a:r>
              <a:rPr lang="en-US" altLang="ko-KR" sz="1600" dirty="0"/>
              <a:t> </a:t>
            </a:r>
            <a:r>
              <a:rPr lang="ko-KR" altLang="en-US" sz="1600" dirty="0" err="1">
                <a:solidFill>
                  <a:srgbClr val="0000CC"/>
                </a:solidFill>
              </a:rPr>
              <a:t>언더컷</a:t>
            </a:r>
            <a:r>
              <a:rPr lang="ko-KR" altLang="en-US" sz="1600" dirty="0">
                <a:solidFill>
                  <a:srgbClr val="0000CC"/>
                </a:solidFill>
              </a:rPr>
              <a:t> 신규 금형 </a:t>
            </a:r>
            <a:r>
              <a:rPr lang="en-US" altLang="ko-KR" sz="1600" dirty="0">
                <a:solidFill>
                  <a:srgbClr val="0000CC"/>
                </a:solidFill>
              </a:rPr>
              <a:t>t-0 5</a:t>
            </a:r>
            <a:r>
              <a:rPr lang="ko-KR" altLang="en-US" sz="1600" dirty="0">
                <a:solidFill>
                  <a:srgbClr val="0000CC"/>
                </a:solidFill>
              </a:rPr>
              <a:t>월 말 완료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0000CC"/>
                </a:solidFill>
              </a:rPr>
              <a:t>   </a:t>
            </a:r>
            <a:r>
              <a:rPr lang="en-US" altLang="ko-KR" sz="1600" dirty="0">
                <a:solidFill>
                  <a:srgbClr val="0000CC"/>
                </a:solidFill>
              </a:rPr>
              <a:t>-&gt;</a:t>
            </a:r>
            <a:r>
              <a:rPr lang="ko-KR" altLang="en-US" sz="1600" dirty="0">
                <a:solidFill>
                  <a:srgbClr val="0000CC"/>
                </a:solidFill>
              </a:rPr>
              <a:t> </a:t>
            </a:r>
            <a:r>
              <a:rPr lang="ko-KR" altLang="en-US" sz="1600" dirty="0" err="1">
                <a:solidFill>
                  <a:srgbClr val="0000CC"/>
                </a:solidFill>
              </a:rPr>
              <a:t>솔대</a:t>
            </a:r>
            <a:r>
              <a:rPr lang="ko-KR" altLang="en-US" sz="1600" dirty="0">
                <a:solidFill>
                  <a:srgbClr val="0000CC"/>
                </a:solidFill>
              </a:rPr>
              <a:t> </a:t>
            </a:r>
            <a:r>
              <a:rPr lang="en-US" altLang="ko-KR" sz="1600" dirty="0">
                <a:solidFill>
                  <a:srgbClr val="0000CC"/>
                </a:solidFill>
              </a:rPr>
              <a:t>6</a:t>
            </a:r>
            <a:r>
              <a:rPr lang="ko-KR" altLang="en-US" sz="1600" dirty="0">
                <a:solidFill>
                  <a:srgbClr val="0000CC"/>
                </a:solidFill>
              </a:rPr>
              <a:t>벌 기준으로 </a:t>
            </a:r>
            <a:r>
              <a:rPr lang="en-US" altLang="ko-KR" sz="1600" dirty="0">
                <a:solidFill>
                  <a:srgbClr val="0000CC"/>
                </a:solidFill>
              </a:rPr>
              <a:t>2</a:t>
            </a:r>
            <a:r>
              <a:rPr lang="ko-KR" altLang="en-US" sz="1600" dirty="0">
                <a:solidFill>
                  <a:srgbClr val="0000CC"/>
                </a:solidFill>
              </a:rPr>
              <a:t>벌 씩 적용하여 일부 물량 </a:t>
            </a:r>
            <a:r>
              <a:rPr lang="en-US" altLang="ko-KR" sz="1600" dirty="0">
                <a:solidFill>
                  <a:srgbClr val="0000CC"/>
                </a:solidFill>
              </a:rPr>
              <a:t>6</a:t>
            </a:r>
            <a:r>
              <a:rPr lang="ko-KR" altLang="en-US" sz="1600" dirty="0">
                <a:solidFill>
                  <a:srgbClr val="0000CC"/>
                </a:solidFill>
              </a:rPr>
              <a:t>월 첫 주 예상 </a:t>
            </a:r>
          </a:p>
          <a:p>
            <a:pPr>
              <a:lnSpc>
                <a:spcPct val="150000"/>
              </a:lnSpc>
            </a:pPr>
            <a:r>
              <a:rPr lang="ko-KR" altLang="en-US" sz="1600" dirty="0">
                <a:solidFill>
                  <a:srgbClr val="0000CC"/>
                </a:solidFill>
              </a:rPr>
              <a:t>   </a:t>
            </a:r>
            <a:r>
              <a:rPr lang="en-US" altLang="ko-KR" sz="1600" dirty="0">
                <a:solidFill>
                  <a:srgbClr val="0000CC"/>
                </a:solidFill>
              </a:rPr>
              <a:t>-&gt;</a:t>
            </a:r>
            <a:r>
              <a:rPr lang="ko-KR" altLang="en-US" sz="1600" dirty="0">
                <a:solidFill>
                  <a:srgbClr val="0000CC"/>
                </a:solidFill>
              </a:rPr>
              <a:t> </a:t>
            </a:r>
            <a:r>
              <a:rPr lang="ko-KR" altLang="en-US" sz="1600" dirty="0" err="1">
                <a:solidFill>
                  <a:srgbClr val="0000CC"/>
                </a:solidFill>
              </a:rPr>
              <a:t>언더컷</a:t>
            </a:r>
            <a:r>
              <a:rPr lang="ko-KR" altLang="en-US" sz="1600" dirty="0">
                <a:solidFill>
                  <a:srgbClr val="0000CC"/>
                </a:solidFill>
              </a:rPr>
              <a:t> 전체 적용은 </a:t>
            </a:r>
            <a:r>
              <a:rPr lang="en-US" altLang="ko-KR" sz="1600" dirty="0">
                <a:solidFill>
                  <a:srgbClr val="0000CC"/>
                </a:solidFill>
              </a:rPr>
              <a:t>6</a:t>
            </a:r>
            <a:r>
              <a:rPr lang="ko-KR" altLang="en-US" sz="1600" dirty="0">
                <a:solidFill>
                  <a:srgbClr val="0000CC"/>
                </a:solidFill>
              </a:rPr>
              <a:t>월 </a:t>
            </a:r>
            <a:r>
              <a:rPr lang="en-US" altLang="ko-KR" sz="1600" dirty="0">
                <a:solidFill>
                  <a:srgbClr val="0000CC"/>
                </a:solidFill>
              </a:rPr>
              <a:t>2</a:t>
            </a:r>
            <a:r>
              <a:rPr lang="ko-KR" altLang="en-US" sz="1600" dirty="0" err="1">
                <a:solidFill>
                  <a:srgbClr val="0000CC"/>
                </a:solidFill>
              </a:rPr>
              <a:t>째주</a:t>
            </a:r>
            <a:r>
              <a:rPr lang="ko-KR" altLang="en-US" sz="1600" dirty="0">
                <a:solidFill>
                  <a:srgbClr val="0000CC"/>
                </a:solidFill>
              </a:rPr>
              <a:t> 예상</a:t>
            </a:r>
            <a:endParaRPr lang="en-US" altLang="ko-KR" sz="16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8281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2013 - 2022 테마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2013 - 2022 테마">
  <a:themeElements>
    <a:clrScheme name="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1D8B59FBCA1FB34283040ED81943F5D4" ma:contentTypeVersion="11" ma:contentTypeDescription="새 문서를 만듭니다." ma:contentTypeScope="" ma:versionID="169b5eae16cb3279ee2d6afa06495d8a">
  <xsd:schema xmlns:xsd="http://www.w3.org/2001/XMLSchema" xmlns:xs="http://www.w3.org/2001/XMLSchema" xmlns:p="http://schemas.microsoft.com/office/2006/metadata/properties" xmlns:ns2="ea9c0bc4-48eb-4698-9de3-01336aefba7d" xmlns:ns3="bbb615be-e249-4c34-bd06-0fdd2167c152" targetNamespace="http://schemas.microsoft.com/office/2006/metadata/properties" ma:root="true" ma:fieldsID="a9e418df8526678b36a5e1baf78ced9f" ns2:_="" ns3:_="">
    <xsd:import namespace="ea9c0bc4-48eb-4698-9de3-01336aefba7d"/>
    <xsd:import namespace="bbb615be-e249-4c34-bd06-0fdd2167c15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9c0bc4-48eb-4698-9de3-01336aefba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c36ccfea-938b-4acb-9445-f25db05b30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bb615be-e249-4c34-bd06-0fdd2167c152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03307a7-c029-4158-ae1a-32283856493c}" ma:internalName="TaxCatchAll" ma:showField="CatchAllData" ma:web="bbb615be-e249-4c34-bd06-0fdd2167c15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9c0bc4-48eb-4698-9de3-01336aefba7d">
      <Terms xmlns="http://schemas.microsoft.com/office/infopath/2007/PartnerControls"/>
    </lcf76f155ced4ddcb4097134ff3c332f>
    <TaxCatchAll xmlns="bbb615be-e249-4c34-bd06-0fdd2167c152" xsi:nil="true"/>
  </documentManagement>
</p:properties>
</file>

<file path=customXml/itemProps1.xml><?xml version="1.0" encoding="utf-8"?>
<ds:datastoreItem xmlns:ds="http://schemas.openxmlformats.org/officeDocument/2006/customXml" ds:itemID="{414453AC-4862-4945-8D39-FEBE909887C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A20BEF6-0384-4607-8FE2-00474CFCC28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ea9c0bc4-48eb-4698-9de3-01336aefba7d"/>
    <ds:schemaRef ds:uri="bbb615be-e249-4c34-bd06-0fdd2167c152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E567EEB-6308-4631-8C57-20F6D12EE9A5}">
  <ds:schemaRefs>
    <ds:schemaRef ds:uri="http://schemas.microsoft.com/office/2006/metadata/properties"/>
    <ds:schemaRef ds:uri="http://www.w3.org/2000/xmlns/"/>
    <ds:schemaRef ds:uri="ea9c0bc4-48eb-4698-9de3-01336aefba7d"/>
    <ds:schemaRef ds:uri="http://schemas.microsoft.com/office/infopath/2007/PartnerControls"/>
    <ds:schemaRef ds:uri="bbb615be-e249-4c34-bd06-0fdd2167c152"/>
    <ds:schemaRef ds:uri="http://www.w3.org/2001/XMLSchema-instan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1224</TotalTime>
  <Words>279</Words>
  <Application>Microsoft Office PowerPoint</Application>
  <PresentationFormat>화면 슬라이드 쇼(4:3)</PresentationFormat>
  <Paragraphs>57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</vt:i4>
      </vt:variant>
    </vt:vector>
  </HeadingPairs>
  <TitlesOfParts>
    <vt:vector size="15" baseType="lpstr">
      <vt:lpstr>Aptos</vt:lpstr>
      <vt:lpstr>Aptos Display</vt:lpstr>
      <vt:lpstr>Noto Sans CJK KR Bold</vt:lpstr>
      <vt:lpstr>맑은 고딕</vt:lpstr>
      <vt:lpstr>Arial</vt:lpstr>
      <vt:lpstr>Calibri</vt:lpstr>
      <vt:lpstr>Calibri Light</vt:lpstr>
      <vt:lpstr>Office 2013 - 2022 테마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yoongu4243@gmail.com</dc:creator>
  <cp:lastModifiedBy>차 승호</cp:lastModifiedBy>
  <cp:revision>48</cp:revision>
  <dcterms:created xsi:type="dcterms:W3CDTF">2025-04-27T12:20:45Z</dcterms:created>
  <dcterms:modified xsi:type="dcterms:W3CDTF">2026-05-19T07:38:00Z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0x0101001D8B59FBCA1FB34283040ED81943F5D4</vt:lpwstr>
  </property>
  <property fmtid="{D5CDD505-2E9C-101B-9397-08002B2CF9AE}" pid="3" name="MediaServiceImageTags">
    <vt:lpwstr/>
  </property>
</Properties>
</file>