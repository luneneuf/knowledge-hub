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52" r:id="rId2"/>
    <p:sldMasterId id="2147483661" r:id="rId3"/>
  </p:sldMasterIdLst>
  <p:notesMasterIdLst>
    <p:notesMasterId r:id="rId20"/>
  </p:notesMasterIdLst>
  <p:handoutMasterIdLst>
    <p:handoutMasterId r:id="rId21"/>
  </p:handoutMasterIdLst>
  <p:sldIdLst>
    <p:sldId id="427" r:id="rId4"/>
    <p:sldId id="433" r:id="rId5"/>
    <p:sldId id="480" r:id="rId6"/>
    <p:sldId id="491" r:id="rId7"/>
    <p:sldId id="492" r:id="rId8"/>
    <p:sldId id="493" r:id="rId9"/>
    <p:sldId id="498" r:id="rId10"/>
    <p:sldId id="494" r:id="rId11"/>
    <p:sldId id="495" r:id="rId12"/>
    <p:sldId id="496" r:id="rId13"/>
    <p:sldId id="497" r:id="rId14"/>
    <p:sldId id="499" r:id="rId15"/>
    <p:sldId id="500" r:id="rId16"/>
    <p:sldId id="501" r:id="rId17"/>
    <p:sldId id="502" r:id="rId18"/>
    <p:sldId id="503" r:id="rId1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PCLUB200606001" initials="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1026"/>
    <a:srgbClr val="0000FF"/>
    <a:srgbClr val="FFF2CC"/>
    <a:srgbClr val="DD2A3A"/>
    <a:srgbClr val="7398A5"/>
    <a:srgbClr val="D9D9D9"/>
    <a:srgbClr val="DEEBF7"/>
    <a:srgbClr val="BEDFD6"/>
    <a:srgbClr val="9DC3E6"/>
    <a:srgbClr val="4655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672" y="3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8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E81BE-4F2C-4A61-BAC7-2D5B23510C61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D9A8-D2AA-465C-B0BD-4F3BC23E8F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9736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2FA8A-9914-44D1-8B53-36CDCC97ED7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3C566-7FD7-44F8-9CFC-D1660D8E3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0651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10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89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34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14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5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355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010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994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48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666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22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149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11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002060"/>
                </a:solidFill>
              </a:rPr>
              <a:t>Ⓒ </a:t>
            </a:r>
            <a:r>
              <a:rPr lang="en-US" sz="1000" b="1" dirty="0">
                <a:solidFill>
                  <a:srgbClr val="002060"/>
                </a:solidFill>
              </a:rPr>
              <a:t>Copyright GP Club. All right reserved.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881" y="98419"/>
            <a:ext cx="1047750" cy="37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콘텐츠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86"/>
            <a:ext cx="194750" cy="55026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cxnSp>
        <p:nvCxnSpPr>
          <p:cNvPr id="9" name="직선 연결선 8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596" y="78945"/>
            <a:ext cx="1047750" cy="374197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(18pt)</a:t>
            </a:r>
            <a:endParaRPr lang="ko-KR" altLang="en-US" dirty="0"/>
          </a:p>
        </p:txBody>
      </p:sp>
      <p:sp>
        <p:nvSpPr>
          <p:cNvPr id="13" name="텍스트 개체 틀 2"/>
          <p:cNvSpPr>
            <a:spLocks noGrp="1"/>
          </p:cNvSpPr>
          <p:nvPr>
            <p:ph type="body" sz="half" idx="2" hasCustomPrompt="1"/>
          </p:nvPr>
        </p:nvSpPr>
        <p:spPr>
          <a:xfrm>
            <a:off x="330144" y="698509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텍스트 스타일을 편집합니다</a:t>
            </a:r>
            <a:r>
              <a:rPr lang="en-US" altLang="ko-KR" dirty="0"/>
              <a:t>.(16pt)</a:t>
            </a:r>
            <a:endParaRPr lang="ko-KR" altLang="en-US" dirty="0"/>
          </a:p>
        </p:txBody>
      </p:sp>
      <p:sp>
        <p:nvSpPr>
          <p:cNvPr id="14" name="텍스트 개체 틀 2"/>
          <p:cNvSpPr>
            <a:spLocks noGrp="1"/>
          </p:cNvSpPr>
          <p:nvPr>
            <p:ph type="body" sz="half" idx="10" hasCustomPrompt="1"/>
          </p:nvPr>
        </p:nvSpPr>
        <p:spPr>
          <a:xfrm>
            <a:off x="330144" y="1148671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텍스트 스타일을 편집합니다</a:t>
            </a:r>
            <a:r>
              <a:rPr lang="en-US" altLang="ko-KR" dirty="0"/>
              <a:t>.(10~14pt)</a:t>
            </a:r>
            <a:endParaRPr lang="ko-KR" altLang="en-US" dirty="0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0" y="6755363"/>
            <a:ext cx="1219199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5363"/>
            <a:ext cx="12191999" cy="12106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9" name="TextBox 18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002060"/>
                </a:solidFill>
              </a:rPr>
              <a:t>Ⓒ </a:t>
            </a:r>
            <a:r>
              <a:rPr lang="en-US" sz="1000" b="1" dirty="0">
                <a:solidFill>
                  <a:srgbClr val="002060"/>
                </a:solidFill>
              </a:rPr>
              <a:t>Copyright GP Club. All right reserved.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3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5898" y="125484"/>
            <a:ext cx="1117744" cy="29225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002060"/>
                </a:solidFill>
              </a:rPr>
              <a:t>Ⓒ </a:t>
            </a:r>
            <a:r>
              <a:rPr lang="en-US" sz="1000" b="1" dirty="0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2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" name="직선 연결선 6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58848" y="127853"/>
            <a:ext cx="1117744" cy="292254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177282" cy="5411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(18pt)</a:t>
            </a:r>
            <a:endParaRPr lang="ko-KR" altLang="en-US" dirty="0"/>
          </a:p>
        </p:txBody>
      </p:sp>
      <p:sp>
        <p:nvSpPr>
          <p:cNvPr id="11" name="텍스트 개체 틀 2"/>
          <p:cNvSpPr>
            <a:spLocks noGrp="1"/>
          </p:cNvSpPr>
          <p:nvPr>
            <p:ph type="body" sz="half" idx="2" hasCustomPrompt="1"/>
          </p:nvPr>
        </p:nvSpPr>
        <p:spPr>
          <a:xfrm>
            <a:off x="330144" y="698509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텍스트 스타일을 편집합니다</a:t>
            </a:r>
            <a:r>
              <a:rPr lang="en-US" altLang="ko-KR" dirty="0"/>
              <a:t>.(16pt)</a:t>
            </a:r>
            <a:endParaRPr lang="ko-KR" altLang="en-US" dirty="0"/>
          </a:p>
        </p:txBody>
      </p:sp>
      <p:sp>
        <p:nvSpPr>
          <p:cNvPr id="12" name="텍스트 개체 틀 2"/>
          <p:cNvSpPr>
            <a:spLocks noGrp="1"/>
          </p:cNvSpPr>
          <p:nvPr>
            <p:ph type="body" sz="half" idx="10" hasCustomPrompt="1"/>
          </p:nvPr>
        </p:nvSpPr>
        <p:spPr>
          <a:xfrm>
            <a:off x="330144" y="1148671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텍스트 스타일을 편집합니다</a:t>
            </a:r>
            <a:r>
              <a:rPr lang="en-US" altLang="ko-KR" dirty="0"/>
              <a:t>.(10~14pt)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002060"/>
                </a:solidFill>
              </a:rPr>
              <a:t>Ⓒ </a:t>
            </a:r>
            <a:r>
              <a:rPr lang="en-US" sz="1000" b="1" dirty="0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5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" name="직선 연결선 6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58848" y="127853"/>
            <a:ext cx="1117744" cy="292254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177282" cy="5411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(18pt)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002060"/>
                </a:solidFill>
              </a:rPr>
              <a:t>Ⓒ </a:t>
            </a:r>
            <a:r>
              <a:rPr lang="en-US" sz="1000" b="1" dirty="0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9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435-ADB5-415D-86FA-2383FEFD9055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A8D1-EF24-4CC0-BCEE-5202C65A5CC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2192000" cy="666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55632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4" indent="0" algn="ctr">
              <a:buNone/>
              <a:defRPr sz="1500"/>
            </a:lvl2pPr>
            <a:lvl3pPr marL="685789" indent="0" algn="ctr">
              <a:buNone/>
              <a:defRPr sz="1350"/>
            </a:lvl3pPr>
            <a:lvl4pPr marL="1028683" indent="0" algn="ctr">
              <a:buNone/>
              <a:defRPr sz="1200"/>
            </a:lvl4pPr>
            <a:lvl5pPr marL="1371577" indent="0" algn="ctr">
              <a:buNone/>
              <a:defRPr sz="1200"/>
            </a:lvl5pPr>
            <a:lvl6pPr marL="1714470" indent="0" algn="ctr">
              <a:buNone/>
              <a:defRPr sz="1200"/>
            </a:lvl6pPr>
            <a:lvl7pPr marL="2057365" indent="0" algn="ctr">
              <a:buNone/>
              <a:defRPr sz="1200"/>
            </a:lvl7pPr>
            <a:lvl8pPr marL="2400259" indent="0" algn="ctr">
              <a:buNone/>
              <a:defRPr sz="1200"/>
            </a:lvl8pPr>
            <a:lvl9pPr marL="2743153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66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2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9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8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7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7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6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5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37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43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21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3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74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91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8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4" indent="0">
              <a:buNone/>
              <a:defRPr sz="2100"/>
            </a:lvl2pPr>
            <a:lvl3pPr marL="685789" indent="0">
              <a:buNone/>
              <a:defRPr sz="1800"/>
            </a:lvl3pPr>
            <a:lvl4pPr marL="1028683" indent="0">
              <a:buNone/>
              <a:defRPr sz="1500"/>
            </a:lvl4pPr>
            <a:lvl5pPr marL="1371577" indent="0">
              <a:buNone/>
              <a:defRPr sz="1500"/>
            </a:lvl5pPr>
            <a:lvl6pPr marL="1714470" indent="0">
              <a:buNone/>
              <a:defRPr sz="1500"/>
            </a:lvl6pPr>
            <a:lvl7pPr marL="2057365" indent="0">
              <a:buNone/>
              <a:defRPr sz="1500"/>
            </a:lvl7pPr>
            <a:lvl8pPr marL="2400259" indent="0">
              <a:buNone/>
              <a:defRPr sz="1500"/>
            </a:lvl8pPr>
            <a:lvl9pPr marL="2743153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27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110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70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6C9C9-3459-4E52-8BCC-08D8EB46D256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1A05E-66AC-4D2A-BDAA-E4EB19F87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28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0" r:id="rId3"/>
    <p:sldLayoutId id="2147483659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EE69-5CF3-4165-9C58-C0772F06E416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15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789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7" indent="-171447" algn="l" defTabSz="685789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1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35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9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24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18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12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07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00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4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8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77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7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65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5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5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nedrug.mfds.go.kr)&#12303;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43A8E3-DF86-F334-151B-741DFFF4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01" y="2601132"/>
            <a:ext cx="1741108" cy="6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18307A-2DAB-A413-C45B-5F45CFFF9995}"/>
              </a:ext>
            </a:extLst>
          </p:cNvPr>
          <p:cNvSpPr/>
          <p:nvPr/>
        </p:nvSpPr>
        <p:spPr>
          <a:xfrm>
            <a:off x="1627104" y="3429003"/>
            <a:ext cx="8900109" cy="69508"/>
          </a:xfrm>
          <a:prstGeom prst="rect">
            <a:avLst/>
          </a:prstGeom>
          <a:solidFill>
            <a:srgbClr val="F2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49168"/>
            <a:endParaRPr lang="en-US" sz="1394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653795CB-DEDB-ECE9-B446-7CE2572A2A53}"/>
              </a:ext>
            </a:extLst>
          </p:cNvPr>
          <p:cNvSpPr txBox="1"/>
          <p:nvPr/>
        </p:nvSpPr>
        <p:spPr>
          <a:xfrm>
            <a:off x="1627101" y="3594374"/>
            <a:ext cx="5864504" cy="3105201"/>
          </a:xfrm>
          <a:prstGeom prst="rect">
            <a:avLst/>
          </a:prstGeom>
          <a:noFill/>
        </p:spPr>
        <p:txBody>
          <a:bodyPr wrap="square" lIns="70795" tIns="35397" rIns="70795" bIns="35397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품질관리 </a:t>
            </a:r>
            <a:r>
              <a:rPr lang="en-US" altLang="ko-KR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System </a:t>
            </a:r>
            <a:r>
              <a:rPr lang="ko-KR" altLang="en-US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체계 확립</a:t>
            </a:r>
            <a:r>
              <a:rPr lang="ko-KR" altLang="en-US" sz="14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품질전략본부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품질팀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차승호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팀장 </a:t>
            </a:r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김건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책임 </a:t>
            </a:r>
            <a:endParaRPr lang="en-US" altLang="ko-KR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ko-KR" altLang="en-US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/>
            </a:endParaRPr>
          </a:p>
          <a:p>
            <a:pPr defTabSz="749168"/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2026.05.18</a:t>
            </a:r>
            <a:endParaRPr lang="en-US" sz="1394" b="1" dirty="0">
              <a:solidFill>
                <a:prstClr val="white"/>
              </a:solidFill>
              <a:latin typeface="Aptos" panose="02110004020202020204"/>
              <a:cs typeface="Calibri" panose="020F0502020204030204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EBBCB9AB-0964-4177-8946-ADDC9BB55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857" y="4030075"/>
            <a:ext cx="1687290" cy="5846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latinLnBrk="0" hangingPunct="0">
              <a:defRPr/>
            </a:pPr>
            <a:r>
              <a:rPr kumimoji="0" lang="en-US" altLang="ko-K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</a:rPr>
              <a:t>Agenda</a:t>
            </a: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8A39ACD1-93E4-42FF-8C25-912ACD8F2705}"/>
              </a:ext>
            </a:extLst>
          </p:cNvPr>
          <p:cNvGrpSpPr>
            <a:grpSpLocks/>
          </p:cNvGrpSpPr>
          <p:nvPr/>
        </p:nvGrpSpPr>
        <p:grpSpPr bwMode="auto">
          <a:xfrm>
            <a:off x="3372102" y="4083678"/>
            <a:ext cx="5020454" cy="477420"/>
            <a:chOff x="1698" y="1437"/>
            <a:chExt cx="3273" cy="334"/>
          </a:xfrm>
          <a:solidFill>
            <a:srgbClr val="4A1026"/>
          </a:solidFill>
        </p:grpSpPr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A105B15D-C90B-4297-A5A9-90D4AA9137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31" y="1437"/>
              <a:ext cx="3040" cy="33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A46876-1A35-4E16-9A3B-B15179C90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8" y="1447"/>
              <a:ext cx="316" cy="316"/>
              <a:chOff x="1583" y="1494"/>
              <a:chExt cx="526" cy="526"/>
            </a:xfrm>
            <a:grpFill/>
          </p:grpSpPr>
          <p:sp>
            <p:nvSpPr>
              <p:cNvPr id="13" name="Oval 10">
                <a:extLst>
                  <a:ext uri="{FF2B5EF4-FFF2-40B4-BE49-F238E27FC236}">
                    <a16:creationId xmlns:a16="http://schemas.microsoft.com/office/drawing/2014/main" id="{8CB14291-15B7-4E25-9DB0-9662ACDDA05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83" y="1494"/>
                <a:ext cx="526" cy="5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4" name="Oval 11">
                <a:extLst>
                  <a:ext uri="{FF2B5EF4-FFF2-40B4-BE49-F238E27FC236}">
                    <a16:creationId xmlns:a16="http://schemas.microsoft.com/office/drawing/2014/main" id="{E6BDE04B-C8D1-4553-9633-B31991648E8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34" y="1547"/>
                <a:ext cx="425" cy="4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3185D95B-916E-4849-BC2D-711E2E5C2A7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42" y="1557"/>
                <a:ext cx="406" cy="4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" name="Oval 13">
                <a:extLst>
                  <a:ext uri="{FF2B5EF4-FFF2-40B4-BE49-F238E27FC236}">
                    <a16:creationId xmlns:a16="http://schemas.microsoft.com/office/drawing/2014/main" id="{A6CF16D0-A88F-48D2-8FE6-4828928FA92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52" y="1582"/>
                <a:ext cx="265" cy="2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7" name="Oval 14">
                <a:extLst>
                  <a:ext uri="{FF2B5EF4-FFF2-40B4-BE49-F238E27FC236}">
                    <a16:creationId xmlns:a16="http://schemas.microsoft.com/office/drawing/2014/main" id="{B36D1154-C727-4393-9BB9-42997C427B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59" y="1571"/>
                <a:ext cx="366" cy="3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6430D480-54BA-492A-8430-52622BC3E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" y="1481"/>
              <a:ext cx="204" cy="258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latinLnBrk="0"/>
              <a:r>
                <a:rPr kumimoji="0" lang="en-US" altLang="ko-KR" b="1" dirty="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EEE8E999-841A-4D0D-9878-C70537447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491"/>
              <a:ext cx="2521" cy="25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eaLnBrk="0" latinLnBrk="0" hangingPunct="0">
                <a:defRPr/>
              </a:pPr>
              <a:r>
                <a:rPr kumimoji="0" lang="ko-KR" altLang="en-US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품질 관리 업무 </a:t>
              </a:r>
              <a:r>
                <a:rPr kumimoji="0" lang="en-US" altLang="ko-KR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_ </a:t>
              </a:r>
              <a:r>
                <a:rPr kumimoji="0" lang="ko-KR" altLang="en-US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업무 주기 </a:t>
              </a:r>
              <a:r>
                <a:rPr kumimoji="0" lang="en-US" altLang="ko-KR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&amp; </a:t>
              </a:r>
              <a:r>
                <a:rPr kumimoji="0" lang="ko-KR" altLang="en-US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담당자</a:t>
              </a:r>
              <a:endParaRPr kumimoji="0" lang="en-US" altLang="ko-KR" b="1" dirty="0">
                <a:solidFill>
                  <a:schemeClr val="bg1"/>
                </a:solidFill>
                <a:latin typeface="Arial" pitchFamily="34" charset="0"/>
                <a:ea typeface="굴림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C33002-B87E-4B54-8402-031BB18A51A0}"/>
              </a:ext>
            </a:extLst>
          </p:cNvPr>
          <p:cNvGrpSpPr/>
          <p:nvPr/>
        </p:nvGrpSpPr>
        <p:grpSpPr>
          <a:xfrm>
            <a:off x="3355995" y="4922067"/>
            <a:ext cx="5021988" cy="475991"/>
            <a:chOff x="3945077" y="3547708"/>
            <a:chExt cx="5021988" cy="475991"/>
          </a:xfrm>
          <a:solidFill>
            <a:srgbClr val="4A1026"/>
          </a:solidFill>
        </p:grpSpPr>
        <p:grpSp>
          <p:nvGrpSpPr>
            <p:cNvPr id="19" name="Group 17">
              <a:extLst>
                <a:ext uri="{FF2B5EF4-FFF2-40B4-BE49-F238E27FC236}">
                  <a16:creationId xmlns:a16="http://schemas.microsoft.com/office/drawing/2014/main" id="{0E446D9E-95BE-4107-AD7A-0ECFB3DE13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5077" y="3547708"/>
              <a:ext cx="5021988" cy="475991"/>
              <a:chOff x="1952" y="1896"/>
              <a:chExt cx="3274" cy="333"/>
            </a:xfrm>
            <a:grpFill/>
          </p:grpSpPr>
          <p:sp>
            <p:nvSpPr>
              <p:cNvPr id="21" name="AutoShape 18">
                <a:extLst>
                  <a:ext uri="{FF2B5EF4-FFF2-40B4-BE49-F238E27FC236}">
                    <a16:creationId xmlns:a16="http://schemas.microsoft.com/office/drawing/2014/main" id="{4B72D232-AB29-41FE-9D1A-45B0138DDF5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85" y="1896"/>
                <a:ext cx="3041" cy="33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A0567793-E4A2-4C90-9D4A-F39DC2FA4F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906"/>
                <a:ext cx="316" cy="316"/>
                <a:chOff x="1583" y="1494"/>
                <a:chExt cx="526" cy="526"/>
              </a:xfrm>
              <a:grpFill/>
            </p:grpSpPr>
            <p:sp>
              <p:nvSpPr>
                <p:cNvPr id="25" name="Oval 20">
                  <a:extLst>
                    <a:ext uri="{FF2B5EF4-FFF2-40B4-BE49-F238E27FC236}">
                      <a16:creationId xmlns:a16="http://schemas.microsoft.com/office/drawing/2014/main" id="{970DDB9D-DF9A-4440-A30C-C94984B73C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583" y="1494"/>
                  <a:ext cx="526" cy="52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6" name="Oval 21">
                  <a:extLst>
                    <a:ext uri="{FF2B5EF4-FFF2-40B4-BE49-F238E27FC236}">
                      <a16:creationId xmlns:a16="http://schemas.microsoft.com/office/drawing/2014/main" id="{CD4F5C6E-6B6D-42AC-93E1-DD7A7548CC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34" y="1547"/>
                  <a:ext cx="425" cy="4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7" name="Oval 22">
                  <a:extLst>
                    <a:ext uri="{FF2B5EF4-FFF2-40B4-BE49-F238E27FC236}">
                      <a16:creationId xmlns:a16="http://schemas.microsoft.com/office/drawing/2014/main" id="{F0A54133-F36D-40C4-A2EC-8D42DCF38E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42" y="1557"/>
                  <a:ext cx="406" cy="40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8" name="Oval 23">
                  <a:extLst>
                    <a:ext uri="{FF2B5EF4-FFF2-40B4-BE49-F238E27FC236}">
                      <a16:creationId xmlns:a16="http://schemas.microsoft.com/office/drawing/2014/main" id="{871C12E8-9B79-4A6D-B5B7-E65EF50734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52" y="1582"/>
                  <a:ext cx="265" cy="2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9" name="Oval 24">
                  <a:extLst>
                    <a:ext uri="{FF2B5EF4-FFF2-40B4-BE49-F238E27FC236}">
                      <a16:creationId xmlns:a16="http://schemas.microsoft.com/office/drawing/2014/main" id="{65DA865B-F71C-4DE0-AFC9-97B877B42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59" y="1571"/>
                  <a:ext cx="366" cy="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</p:grp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5F841D2E-48E3-454C-8250-B5F1F383E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6" y="1950"/>
                <a:ext cx="204" cy="25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latinLnBrk="0"/>
                <a:r>
                  <a:rPr kumimoji="0" lang="en-US" altLang="ko-KR" b="1" dirty="0">
                    <a:solidFill>
                      <a:schemeClr val="bg1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FCF465C8-B8F2-4212-A39C-985B8A6306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950"/>
                <a:ext cx="120" cy="25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>
                <a:spAutoFit/>
              </a:bodyPr>
              <a:lstStyle/>
              <a:p>
                <a:pPr eaLnBrk="0" latinLnBrk="0" hangingPunct="0">
                  <a:defRPr/>
                </a:pPr>
                <a:endParaRPr kumimoji="0" lang="en-US" altLang="ko-KR" b="1" dirty="0">
                  <a:latin typeface="Arial" pitchFamily="34" charset="0"/>
                  <a:ea typeface="굴림" pitchFamily="50" charset="-127"/>
                </a:endParaRPr>
              </a:p>
            </p:txBody>
          </p:sp>
        </p:grp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78D53BFB-7950-4BD1-8843-F3FF46201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638" y="3632044"/>
              <a:ext cx="3373039" cy="36933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eaLnBrk="0" latinLnBrk="0" hangingPunct="0">
                <a:defRPr/>
              </a:pPr>
              <a:r>
                <a:rPr lang="ko-KR" altLang="en-US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별첨</a:t>
              </a:r>
              <a:r>
                <a:rPr lang="en-US" altLang="ko-KR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. </a:t>
              </a:r>
              <a:r>
                <a:rPr lang="ko-KR" altLang="en-US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품질관리 업무별 </a:t>
              </a:r>
              <a:r>
                <a:rPr lang="en-US" altLang="ko-KR" b="1" dirty="0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53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Ⅰ.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System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체계 확립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_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 관리 업무 주기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담당자</a:t>
            </a:r>
            <a:endParaRPr lang="ko-KR" altLang="en-US" dirty="0">
              <a:solidFill>
                <a:srgbClr val="4A1026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120D1AF-E951-4F36-8326-E78660071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14615"/>
              </p:ext>
            </p:extLst>
          </p:nvPr>
        </p:nvGraphicFramePr>
        <p:xfrm>
          <a:off x="389574" y="609759"/>
          <a:ext cx="11140649" cy="5521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657">
                  <a:extLst>
                    <a:ext uri="{9D8B030D-6E8A-4147-A177-3AD203B41FA5}">
                      <a16:colId xmlns:a16="http://schemas.microsoft.com/office/drawing/2014/main" val="1126473764"/>
                    </a:ext>
                  </a:extLst>
                </a:gridCol>
                <a:gridCol w="4620835">
                  <a:extLst>
                    <a:ext uri="{9D8B030D-6E8A-4147-A177-3AD203B41FA5}">
                      <a16:colId xmlns:a16="http://schemas.microsoft.com/office/drawing/2014/main" val="3157229003"/>
                    </a:ext>
                  </a:extLst>
                </a:gridCol>
                <a:gridCol w="2270588">
                  <a:extLst>
                    <a:ext uri="{9D8B030D-6E8A-4147-A177-3AD203B41FA5}">
                      <a16:colId xmlns:a16="http://schemas.microsoft.com/office/drawing/2014/main" val="895852550"/>
                    </a:ext>
                  </a:extLst>
                </a:gridCol>
                <a:gridCol w="1203439">
                  <a:extLst>
                    <a:ext uri="{9D8B030D-6E8A-4147-A177-3AD203B41FA5}">
                      <a16:colId xmlns:a16="http://schemas.microsoft.com/office/drawing/2014/main" val="3643321088"/>
                    </a:ext>
                  </a:extLst>
                </a:gridCol>
                <a:gridCol w="2228130">
                  <a:extLst>
                    <a:ext uri="{9D8B030D-6E8A-4147-A177-3AD203B41FA5}">
                      <a16:colId xmlns:a16="http://schemas.microsoft.com/office/drawing/2014/main" val="1794955823"/>
                    </a:ext>
                  </a:extLst>
                </a:gridCol>
              </a:tblGrid>
              <a:tr h="337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NO.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주기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Process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담당자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569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제품 클레임 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u="sng" dirty="0">
                          <a:latin typeface="+mn-ea"/>
                          <a:ea typeface="+mn-ea"/>
                        </a:rPr>
                        <a:t>상시 </a:t>
                      </a:r>
                      <a:r>
                        <a:rPr lang="en-US" altLang="ko-KR" sz="1400" b="1" u="sng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u="sng" dirty="0">
                          <a:latin typeface="+mn-ea"/>
                          <a:ea typeface="+mn-ea"/>
                        </a:rPr>
                        <a:t>일일</a:t>
                      </a:r>
                      <a:r>
                        <a:rPr lang="en-US" altLang="ko-KR" sz="1400" b="1" u="sng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u="sng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별첨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2965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신제품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093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러닝품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0392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화장품 표시문안 검토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1542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화장품 원료목록보고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680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CT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1289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포장사양서 검토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093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QC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서류 관리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제품표준서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완제품성적서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제조관리기록서 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4373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시장출하승인기록서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6107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표준견본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검토 및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한도견본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3417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제품 부적합처리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회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704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유통 제품에 대한 품질보증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발생 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005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제조업체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회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5932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화장품 안전성 정기보고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식품의약품안전처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반기별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2869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화장품 상세페이지 광고문안 검토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주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337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기능성화장품 심사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제외품목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보고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주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2329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화장품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책임판매업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교육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회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차승호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김건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94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4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3D9110-4704-409A-938A-629D2895A0D2}"/>
              </a:ext>
            </a:extLst>
          </p:cNvPr>
          <p:cNvSpPr/>
          <p:nvPr/>
        </p:nvSpPr>
        <p:spPr>
          <a:xfrm>
            <a:off x="277652" y="1194740"/>
            <a:ext cx="11732837" cy="5234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제품 클레임 처리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0929249-8C31-41F8-811A-619F50DB9C9B}"/>
              </a:ext>
            </a:extLst>
          </p:cNvPr>
          <p:cNvGrpSpPr/>
          <p:nvPr/>
        </p:nvGrpSpPr>
        <p:grpSpPr>
          <a:xfrm>
            <a:off x="785192" y="1258498"/>
            <a:ext cx="10348797" cy="5031086"/>
            <a:chOff x="1574333" y="1821373"/>
            <a:chExt cx="9609351" cy="4529969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B131C2E0-1C87-4B59-A02B-B8005DEBB325}"/>
                </a:ext>
              </a:extLst>
            </p:cNvPr>
            <p:cNvGrpSpPr/>
            <p:nvPr/>
          </p:nvGrpSpPr>
          <p:grpSpPr>
            <a:xfrm>
              <a:off x="9231145" y="2272891"/>
              <a:ext cx="1952539" cy="1847757"/>
              <a:chOff x="3016660" y="1743866"/>
              <a:chExt cx="1829707" cy="1734796"/>
            </a:xfrm>
          </p:grpSpPr>
          <p:sp>
            <p:nvSpPr>
              <p:cNvPr id="180" name="모서리가 둥근 직사각형 160">
                <a:extLst>
                  <a:ext uri="{FF2B5EF4-FFF2-40B4-BE49-F238E27FC236}">
                    <a16:creationId xmlns:a16="http://schemas.microsoft.com/office/drawing/2014/main" id="{7464D06A-DBD1-4352-8132-5853B5E02848}"/>
                  </a:ext>
                </a:extLst>
              </p:cNvPr>
              <p:cNvSpPr/>
              <p:nvPr/>
            </p:nvSpPr>
            <p:spPr>
              <a:xfrm>
                <a:off x="3040016" y="1743866"/>
                <a:ext cx="1806351" cy="67391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 dirty="0" err="1">
                    <a:solidFill>
                      <a:schemeClr val="tx1"/>
                    </a:solidFill>
                    <a:latin typeface="+mn-ea"/>
                  </a:rPr>
                  <a:t>제품클레임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 처리 현황 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업데이트</a:t>
                </a:r>
              </a:p>
            </p:txBody>
          </p:sp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958746C3-7496-4A9D-91C1-52A08BF81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660" y="2533940"/>
                <a:ext cx="1813081" cy="9447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처리현황 파일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처리결과 업데이트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45F55F1E-075B-4B5A-9C35-D44F720DFBC4}"/>
                </a:ext>
              </a:extLst>
            </p:cNvPr>
            <p:cNvGrpSpPr/>
            <p:nvPr/>
          </p:nvGrpSpPr>
          <p:grpSpPr>
            <a:xfrm>
              <a:off x="4380167" y="2261935"/>
              <a:ext cx="2014056" cy="1902301"/>
              <a:chOff x="4358207" y="5712031"/>
              <a:chExt cx="2093371" cy="1308589"/>
            </a:xfrm>
          </p:grpSpPr>
          <p:sp>
            <p:nvSpPr>
              <p:cNvPr id="183" name="모서리가 둥근 직사각형 181">
                <a:extLst>
                  <a:ext uri="{FF2B5EF4-FFF2-40B4-BE49-F238E27FC236}">
                    <a16:creationId xmlns:a16="http://schemas.microsoft.com/office/drawing/2014/main" id="{1D8C3DA7-CB25-4D22-AC52-A134F4D79CC5}"/>
                  </a:ext>
                </a:extLst>
              </p:cNvPr>
              <p:cNvSpPr/>
              <p:nvPr/>
            </p:nvSpPr>
            <p:spPr>
              <a:xfrm>
                <a:off x="4358207" y="5712031"/>
                <a:ext cx="2093371" cy="5013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제품 클레임 접수 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가능 여부 파악   </a:t>
                </a:r>
              </a:p>
            </p:txBody>
          </p:sp>
          <p:sp>
            <p:nvSpPr>
              <p:cNvPr id="184" name="Rectangle 5">
                <a:extLst>
                  <a:ext uri="{FF2B5EF4-FFF2-40B4-BE49-F238E27FC236}">
                    <a16:creationId xmlns:a16="http://schemas.microsoft.com/office/drawing/2014/main" id="{FA8C5D03-B7CC-441B-B606-DA98637CA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8207" y="6312569"/>
                <a:ext cx="2093371" cy="70805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동일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로트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생산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관리품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확인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상황에 따라 실물 수령요청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클레임 예상 원인 의견 작성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제조사 귀책에 따른 개선지시 가능여부 의견 작성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40628473-7E24-409E-A10E-C0FB79514C84}"/>
                </a:ext>
              </a:extLst>
            </p:cNvPr>
            <p:cNvCxnSpPr>
              <a:cxnSpLocks/>
            </p:cNvCxnSpPr>
            <p:nvPr/>
          </p:nvCxnSpPr>
          <p:spPr>
            <a:xfrm>
              <a:off x="4054825" y="280140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1BB31822-C1EF-4EBE-B146-3BE8612D901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637" y="280140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화살표 연결선 186">
              <a:extLst>
                <a:ext uri="{FF2B5EF4-FFF2-40B4-BE49-F238E27FC236}">
                  <a16:creationId xmlns:a16="http://schemas.microsoft.com/office/drawing/2014/main" id="{C22BBD39-607D-4A46-A13E-5E2193CED127}"/>
                </a:ext>
              </a:extLst>
            </p:cNvPr>
            <p:cNvCxnSpPr>
              <a:cxnSpLocks/>
            </p:cNvCxnSpPr>
            <p:nvPr/>
          </p:nvCxnSpPr>
          <p:spPr>
            <a:xfrm>
              <a:off x="8916363" y="2776160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9AF877A7-B98E-4087-A2BE-1010F358848F}"/>
                </a:ext>
              </a:extLst>
            </p:cNvPr>
            <p:cNvSpPr txBox="1"/>
            <p:nvPr/>
          </p:nvSpPr>
          <p:spPr>
            <a:xfrm>
              <a:off x="1608960" y="1828480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93A2BB5-B60B-47CC-8F40-1133D163700D}"/>
                </a:ext>
              </a:extLst>
            </p:cNvPr>
            <p:cNvSpPr txBox="1"/>
            <p:nvPr/>
          </p:nvSpPr>
          <p:spPr>
            <a:xfrm>
              <a:off x="6474019" y="1831088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F5E2F5C-533C-4DAE-9366-9CEB7F950716}"/>
                </a:ext>
              </a:extLst>
            </p:cNvPr>
            <p:cNvSpPr txBox="1"/>
            <p:nvPr/>
          </p:nvSpPr>
          <p:spPr>
            <a:xfrm>
              <a:off x="8920421" y="1821373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B104414D-613C-4FCC-B273-FA3E5C973E68}"/>
                </a:ext>
              </a:extLst>
            </p:cNvPr>
            <p:cNvGrpSpPr/>
            <p:nvPr/>
          </p:nvGrpSpPr>
          <p:grpSpPr>
            <a:xfrm>
              <a:off x="1930239" y="2261936"/>
              <a:ext cx="2010465" cy="1902300"/>
              <a:chOff x="798770" y="1753646"/>
              <a:chExt cx="1790976" cy="1793364"/>
            </a:xfrm>
          </p:grpSpPr>
          <p:sp>
            <p:nvSpPr>
              <p:cNvPr id="192" name="Rectangle 5">
                <a:extLst>
                  <a:ext uri="{FF2B5EF4-FFF2-40B4-BE49-F238E27FC236}">
                    <a16:creationId xmlns:a16="http://schemas.microsoft.com/office/drawing/2014/main" id="{DEF64839-01F9-4C15-B95E-2AE4A7F0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896" y="2539246"/>
                <a:ext cx="1782536" cy="10077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영업 부서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_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제품 클레임 접수증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기안 상신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3" name="모서리가 둥근 직사각형 61">
                <a:extLst>
                  <a:ext uri="{FF2B5EF4-FFF2-40B4-BE49-F238E27FC236}">
                    <a16:creationId xmlns:a16="http://schemas.microsoft.com/office/drawing/2014/main" id="{6956CF62-BC56-48A7-B240-CE0E0107B108}"/>
                  </a:ext>
                </a:extLst>
              </p:cNvPr>
              <p:cNvSpPr/>
              <p:nvPr/>
            </p:nvSpPr>
            <p:spPr>
              <a:xfrm>
                <a:off x="798770" y="1753646"/>
                <a:ext cx="1790976" cy="6728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제품 클레임 접수 기안</a:t>
                </a:r>
              </a:p>
            </p:txBody>
          </p: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C4309980-01C4-4B2D-B0DB-2CE5DEAE2927}"/>
                </a:ext>
              </a:extLst>
            </p:cNvPr>
            <p:cNvGrpSpPr/>
            <p:nvPr/>
          </p:nvGrpSpPr>
          <p:grpSpPr>
            <a:xfrm>
              <a:off x="6773818" y="2272891"/>
              <a:ext cx="2220257" cy="1847759"/>
              <a:chOff x="4358207" y="5689677"/>
              <a:chExt cx="2093371" cy="1182929"/>
            </a:xfrm>
          </p:grpSpPr>
          <p:sp>
            <p:nvSpPr>
              <p:cNvPr id="195" name="모서리가 둥근 직사각형 69">
                <a:extLst>
                  <a:ext uri="{FF2B5EF4-FFF2-40B4-BE49-F238E27FC236}">
                    <a16:creationId xmlns:a16="http://schemas.microsoft.com/office/drawing/2014/main" id="{2929D9A8-ADDB-46E8-9F6A-D4D0A31A214A}"/>
                  </a:ext>
                </a:extLst>
              </p:cNvPr>
              <p:cNvSpPr/>
              <p:nvPr/>
            </p:nvSpPr>
            <p:spPr>
              <a:xfrm>
                <a:off x="4358207" y="5689677"/>
                <a:ext cx="2093371" cy="46674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품질 정보 개선지시서 작성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및 업체 통보</a:t>
                </a:r>
              </a:p>
            </p:txBody>
          </p:sp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B4B6F23A-E720-4B20-A024-9223CED9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8207" y="6213654"/>
                <a:ext cx="2093371" cy="6589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 작성 및 내부 결재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제조업체에 개선지시서 전달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C6A48A3E-AB32-4B6A-BC14-0F4C2B5F9DB9}"/>
                </a:ext>
              </a:extLst>
            </p:cNvPr>
            <p:cNvSpPr/>
            <p:nvPr/>
          </p:nvSpPr>
          <p:spPr>
            <a:xfrm>
              <a:off x="1574333" y="4262619"/>
              <a:ext cx="338075" cy="371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70000"/>
                <a:defRPr/>
              </a:pPr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⑤</a:t>
              </a:r>
              <a:endParaRPr lang="en-US" altLang="ko-KR" b="1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8F37174A-A8D3-49AA-9B44-B4584EB11499}"/>
                </a:ext>
              </a:extLst>
            </p:cNvPr>
            <p:cNvGrpSpPr/>
            <p:nvPr/>
          </p:nvGrpSpPr>
          <p:grpSpPr>
            <a:xfrm>
              <a:off x="1907455" y="4575753"/>
              <a:ext cx="2033249" cy="1730920"/>
              <a:chOff x="728597" y="3723319"/>
              <a:chExt cx="2024076" cy="2029229"/>
            </a:xfrm>
          </p:grpSpPr>
          <p:sp>
            <p:nvSpPr>
              <p:cNvPr id="199" name="모서리가 둥근 직사각형 208">
                <a:extLst>
                  <a:ext uri="{FF2B5EF4-FFF2-40B4-BE49-F238E27FC236}">
                    <a16:creationId xmlns:a16="http://schemas.microsoft.com/office/drawing/2014/main" id="{C91F5F2D-7958-47C1-80FC-AE7DFB0AC914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2407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원인분석 및 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재발방지대책서 </a:t>
                </a:r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200" name="Rectangle 5">
                <a:extLst>
                  <a:ext uri="{FF2B5EF4-FFF2-40B4-BE49-F238E27FC236}">
                    <a16:creationId xmlns:a16="http://schemas.microsoft.com/office/drawing/2014/main" id="{7BEB400E-FFB5-41B8-82DE-38A812E2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4"/>
                <a:ext cx="1991966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원인분석 및 재발방지대책서 검토 및 수정 요청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07BB62B2-D074-451E-B44B-343C9EAD28F8}"/>
                </a:ext>
              </a:extLst>
            </p:cNvPr>
            <p:cNvGrpSpPr/>
            <p:nvPr/>
          </p:nvGrpSpPr>
          <p:grpSpPr>
            <a:xfrm>
              <a:off x="4377392" y="4615553"/>
              <a:ext cx="2023059" cy="1702668"/>
              <a:chOff x="728597" y="3723319"/>
              <a:chExt cx="2092236" cy="1996108"/>
            </a:xfrm>
          </p:grpSpPr>
          <p:sp>
            <p:nvSpPr>
              <p:cNvPr id="202" name="모서리가 둥근 직사각형 98">
                <a:extLst>
                  <a:ext uri="{FF2B5EF4-FFF2-40B4-BE49-F238E27FC236}">
                    <a16:creationId xmlns:a16="http://schemas.microsoft.com/office/drawing/2014/main" id="{54E6B2AA-C141-42DD-86FC-94A8D0B76712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82925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원인분석 및 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재발방지대책서 </a:t>
                </a:r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203" name="Rectangle 5">
                <a:extLst>
                  <a:ext uri="{FF2B5EF4-FFF2-40B4-BE49-F238E27FC236}">
                    <a16:creationId xmlns:a16="http://schemas.microsoft.com/office/drawing/2014/main" id="{0780B77E-45BC-4CFE-A41C-7E284042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7" y="4572535"/>
                <a:ext cx="2069416" cy="11468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2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 진행 및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수정사항 있을 시 추가 수정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요청</a:t>
                </a:r>
              </a:p>
            </p:txBody>
          </p:sp>
        </p:grp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E1C99955-A166-447F-927B-EC363F9F23B7}"/>
                </a:ext>
              </a:extLst>
            </p:cNvPr>
            <p:cNvCxnSpPr>
              <a:cxnSpLocks/>
            </p:cNvCxnSpPr>
            <p:nvPr/>
          </p:nvCxnSpPr>
          <p:spPr>
            <a:xfrm>
              <a:off x="4039134" y="507627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4B3B0247-2324-4DDE-AA42-B49392355A43}"/>
                </a:ext>
              </a:extLst>
            </p:cNvPr>
            <p:cNvSpPr/>
            <p:nvPr/>
          </p:nvSpPr>
          <p:spPr>
            <a:xfrm>
              <a:off x="4047453" y="4218530"/>
              <a:ext cx="3550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⑥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CBFA9E97-57BF-447C-85E4-49C668C20E30}"/>
                </a:ext>
              </a:extLst>
            </p:cNvPr>
            <p:cNvSpPr/>
            <p:nvPr/>
          </p:nvSpPr>
          <p:spPr>
            <a:xfrm>
              <a:off x="6473349" y="4234386"/>
              <a:ext cx="4595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⑦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FCDE831C-08D9-4861-A19B-AD30C95100F4}"/>
                </a:ext>
              </a:extLst>
            </p:cNvPr>
            <p:cNvCxnSpPr>
              <a:cxnSpLocks/>
            </p:cNvCxnSpPr>
            <p:nvPr/>
          </p:nvCxnSpPr>
          <p:spPr>
            <a:xfrm>
              <a:off x="6470980" y="5077308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F5ECAC5E-6AA0-4D7E-877E-06F1BE44806D}"/>
                </a:ext>
              </a:extLst>
            </p:cNvPr>
            <p:cNvGrpSpPr/>
            <p:nvPr/>
          </p:nvGrpSpPr>
          <p:grpSpPr>
            <a:xfrm>
              <a:off x="6803373" y="4620421"/>
              <a:ext cx="2014056" cy="1730921"/>
              <a:chOff x="728597" y="3723319"/>
              <a:chExt cx="2024076" cy="2029230"/>
            </a:xfrm>
          </p:grpSpPr>
          <p:sp>
            <p:nvSpPr>
              <p:cNvPr id="211" name="모서리가 둥근 직사각형 106">
                <a:extLst>
                  <a:ext uri="{FF2B5EF4-FFF2-40B4-BE49-F238E27FC236}">
                    <a16:creationId xmlns:a16="http://schemas.microsoft.com/office/drawing/2014/main" id="{F5DF225F-76B3-464F-B9E0-954617473FFE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2407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클레임 처리 결과 보고서 작성</a:t>
                </a:r>
              </a:p>
            </p:txBody>
          </p:sp>
          <p:sp>
            <p:nvSpPr>
              <p:cNvPr id="229" name="Rectangle 5">
                <a:extLst>
                  <a:ext uri="{FF2B5EF4-FFF2-40B4-BE49-F238E27FC236}">
                    <a16:creationId xmlns:a16="http://schemas.microsoft.com/office/drawing/2014/main" id="{7814B313-151E-4858-9C95-D1392FF32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5"/>
                <a:ext cx="1991966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 클레임 처리 결과 보고서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 첨부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작성 및 내부 결재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접수증 기안에 클레임 처리결과서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사본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첨부 및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의견 작성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26310D67-B23F-4189-B051-3481086448ED}"/>
                </a:ext>
              </a:extLst>
            </p:cNvPr>
            <p:cNvSpPr/>
            <p:nvPr/>
          </p:nvSpPr>
          <p:spPr>
            <a:xfrm>
              <a:off x="8855607" y="4243931"/>
              <a:ext cx="4595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⑧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31" name="직선 화살표 연결선 230">
              <a:extLst>
                <a:ext uri="{FF2B5EF4-FFF2-40B4-BE49-F238E27FC236}">
                  <a16:creationId xmlns:a16="http://schemas.microsoft.com/office/drawing/2014/main" id="{A8329EB5-57C7-424E-99C9-1827BC9E931C}"/>
                </a:ext>
              </a:extLst>
            </p:cNvPr>
            <p:cNvCxnSpPr>
              <a:cxnSpLocks/>
            </p:cNvCxnSpPr>
            <p:nvPr/>
          </p:nvCxnSpPr>
          <p:spPr>
            <a:xfrm>
              <a:off x="8884062" y="507627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화살표 연결선 231">
              <a:extLst>
                <a:ext uri="{FF2B5EF4-FFF2-40B4-BE49-F238E27FC236}">
                  <a16:creationId xmlns:a16="http://schemas.microsoft.com/office/drawing/2014/main" id="{4817F48E-D71D-4807-A581-20FFCFB8C69E}"/>
                </a:ext>
              </a:extLst>
            </p:cNvPr>
            <p:cNvCxnSpPr>
              <a:cxnSpLocks/>
            </p:cNvCxnSpPr>
            <p:nvPr/>
          </p:nvCxnSpPr>
          <p:spPr>
            <a:xfrm>
              <a:off x="1596127" y="5099755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870D7E71-295A-4DBE-950A-E0811812B8CC}"/>
                </a:ext>
              </a:extLst>
            </p:cNvPr>
            <p:cNvGrpSpPr/>
            <p:nvPr/>
          </p:nvGrpSpPr>
          <p:grpSpPr>
            <a:xfrm>
              <a:off x="9171514" y="4588034"/>
              <a:ext cx="1952539" cy="1763307"/>
              <a:chOff x="3016660" y="1778427"/>
              <a:chExt cx="1829707" cy="1655508"/>
            </a:xfrm>
          </p:grpSpPr>
          <p:sp>
            <p:nvSpPr>
              <p:cNvPr id="234" name="모서리가 둥근 직사각형 43">
                <a:extLst>
                  <a:ext uri="{FF2B5EF4-FFF2-40B4-BE49-F238E27FC236}">
                    <a16:creationId xmlns:a16="http://schemas.microsoft.com/office/drawing/2014/main" id="{21A0F1E2-C6E0-461B-B914-F256CE72C729}"/>
                  </a:ext>
                </a:extLst>
              </p:cNvPr>
              <p:cNvSpPr/>
              <p:nvPr/>
            </p:nvSpPr>
            <p:spPr>
              <a:xfrm>
                <a:off x="3040016" y="1778427"/>
                <a:ext cx="1806351" cy="5981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제품 클레임 처리 현황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 업데이트</a:t>
                </a:r>
              </a:p>
            </p:txBody>
          </p:sp>
          <p:sp>
            <p:nvSpPr>
              <p:cNvPr id="235" name="Rectangle 5">
                <a:extLst>
                  <a:ext uri="{FF2B5EF4-FFF2-40B4-BE49-F238E27FC236}">
                    <a16:creationId xmlns:a16="http://schemas.microsoft.com/office/drawing/2014/main" id="{72ED26B6-3F61-42B9-929C-DF3FC1AF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660" y="2459063"/>
                <a:ext cx="1813081" cy="9748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처리현황 파일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처리결과 업데이트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제품클레임처리결과서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075AA6D-B971-49B8-93A4-18792A814136}"/>
                </a:ext>
              </a:extLst>
            </p:cNvPr>
            <p:cNvSpPr txBox="1"/>
            <p:nvPr/>
          </p:nvSpPr>
          <p:spPr>
            <a:xfrm>
              <a:off x="4049331" y="1851833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277653" y="697198"/>
            <a:ext cx="304595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제품클레임 처리 프로세스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08967"/>
              </p:ext>
            </p:extLst>
          </p:nvPr>
        </p:nvGraphicFramePr>
        <p:xfrm>
          <a:off x="3478217" y="618888"/>
          <a:ext cx="4652400" cy="53057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5464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제품클레임처리현황 보고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클레임 접수 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단순 클레임 제외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08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2.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신제품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QC  &amp;  3.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러닝품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QC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431280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신제품 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QC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프로세스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46546"/>
              </p:ext>
            </p:extLst>
          </p:nvPr>
        </p:nvGraphicFramePr>
        <p:xfrm>
          <a:off x="111623" y="1290917"/>
          <a:ext cx="5936096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2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신제품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배포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QC_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외관검사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관능검사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비교검사 등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내용물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픽스품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   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결과 주간업무 작성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업데이트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6.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표준견본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라벨 부착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741204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6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러닝품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파일의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입고내역 추가작성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QC_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외관검사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관능검사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비교검사 등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결과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판정결과 입고리스트 작성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업데이트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6.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완제품관리품 라벨 제작 및 부착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7.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보관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243127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러닝품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QC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프로세스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717468"/>
              </p:ext>
            </p:extLst>
          </p:nvPr>
        </p:nvGraphicFramePr>
        <p:xfrm>
          <a:off x="1245005" y="5321334"/>
          <a:ext cx="4652400" cy="964717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463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QC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결과서 보고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부적합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72760F02-B7B7-4B93-848E-F63DAAC71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094522"/>
              </p:ext>
            </p:extLst>
          </p:nvPr>
        </p:nvGraphicFramePr>
        <p:xfrm>
          <a:off x="7073173" y="5321334"/>
          <a:ext cx="4652400" cy="964717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463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QC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 보고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부적합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4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4.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표시문안 검토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249801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가문안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검토 프로세스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267668"/>
              </p:ext>
            </p:extLst>
          </p:nvPr>
        </p:nvGraphicFramePr>
        <p:xfrm>
          <a:off x="111623" y="1290916"/>
          <a:ext cx="5936096" cy="490256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2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401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가문안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요청 메일 수신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PPT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파일 양식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원드라이브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의뢰내역 업데이트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실시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검토결과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보완 사항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메일 회신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 문안검토 내역 업데이트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046456"/>
              </p:ext>
            </p:extLst>
          </p:nvPr>
        </p:nvGraphicFramePr>
        <p:xfrm>
          <a:off x="6105127" y="1290918"/>
          <a:ext cx="5975250" cy="4902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6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73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디자인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문안검토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디자인 표시 문안검토 접수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원드라이브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의뢰내역 업데이트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디자인 표시문안 검토 실시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명 크로스체크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)_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&amp;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확인요청사항 기입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 표시문안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검토본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내역 업데이트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3430525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디자인 표시 문안검토 프로세스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72760F02-B7B7-4B93-848E-F63DAAC71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10581"/>
              </p:ext>
            </p:extLst>
          </p:nvPr>
        </p:nvGraphicFramePr>
        <p:xfrm>
          <a:off x="7165640" y="5392949"/>
          <a:ext cx="4652400" cy="50170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이슈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01FF3C5E-2BC9-479F-B0CF-29FB13DAA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628" y="3012729"/>
            <a:ext cx="2820954" cy="1787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+mn-ea"/>
                <a:ea typeface="+mn-ea"/>
              </a:rPr>
              <a:t>주요 검토사항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① 표시기재사항 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② 과대광고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③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전성분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④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성분별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유형별 주의사항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⑤ 실증자료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D9D6521-7F07-444A-85D7-84511C05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9298" y="2535148"/>
            <a:ext cx="2820954" cy="1787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+mn-ea"/>
                <a:ea typeface="+mn-ea"/>
              </a:rPr>
              <a:t>주요 검토사항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① 표시기재사항 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② 과대광고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③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전성분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④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성분별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유형별 주의사항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⑤ 실증자료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352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5.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원료목록보고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66239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원료목록보고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최초보고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3721"/>
              </p:ext>
            </p:extLst>
          </p:nvPr>
        </p:nvGraphicFramePr>
        <p:xfrm>
          <a:off x="111623" y="1290917"/>
          <a:ext cx="5936096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08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필요 품목의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파일 제조업체에 요청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수령 후 검토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원료목록보고완료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609582"/>
              </p:ext>
            </p:extLst>
          </p:nvPr>
        </p:nvGraphicFramePr>
        <p:xfrm>
          <a:off x="6105127" y="1290918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3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726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1.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변경보고 필요 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전성분이나 제조업자 등 변경사항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해당 품목의 전성분표 상품개발팀에 요청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수령 후 검토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4-1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변경보고 단품목일 경우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-&gt;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제품 선택 후 해당원료만  수정 후 제출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4-2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변경보고 복수제품의 경우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-&gt;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전체 제품 원료목록 업로드 후 제출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변경보고완료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7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단종보고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단종보고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제품 단종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잘못보고했거나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유통계획이 없는 경우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실시</a:t>
                      </a:r>
                      <a:endParaRPr kumimoji="0" lang="en-US" altLang="ko-KR" sz="11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2-1.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제품단종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버튼 클릭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2-2.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단종 또는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보고취하할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제품명 클릭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2-3.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단종 또는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보고취하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클릭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2-4.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사유 선택 후 보고하기 클릭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원료목록보고완료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154166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0" y="730292"/>
            <a:ext cx="329401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원료목록보고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변경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단종보고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C0899E-C0E7-403B-8837-A3C3C103D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31" y="2848035"/>
            <a:ext cx="4668508" cy="259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7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 6.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포장재 재질구조등급평가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7. CT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관리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8.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포장사양서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검토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2875417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포장재 재질구조등급평가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571693"/>
              </p:ext>
            </p:extLst>
          </p:nvPr>
        </p:nvGraphicFramePr>
        <p:xfrm>
          <a:off x="111621" y="1290917"/>
          <a:ext cx="588834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9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재질구조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등급평가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(CT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의뢰서 수령 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임시평가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및 결과 기록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포장사양서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 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최종평가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실시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기존에 평가 진행된 품목과 결과 동일한 경우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1)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재질구조등급 및 분리배출표시 리스트 내 기존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대표품목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평가 결과에 신제품 파생품목으로 추가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 평가 필요한 경우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1)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자재업체에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포장재 재질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·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구조 증명서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(+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필요 시 시험분석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결과서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추가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작성 요청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요청서류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 및 검토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3)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환경공단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EPR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사이트에 평가결과 및 관련 증빙자료 제출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4-1)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환경공단에서 평가결과 승인 시 재질구조등급 및 분리배출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표시 리스트 내 대표품목으로 평가결과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환경공단에서 평가결과 반려 시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제출자료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보완 또는 평가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결과 수정하여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재제출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후 승인 시 재질구조등급 및 분리배출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표시 리스트 내 대표품목으로 평가결과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대표품목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64059"/>
              </p:ext>
            </p:extLst>
          </p:nvPr>
        </p:nvGraphicFramePr>
        <p:xfrm>
          <a:off x="6105127" y="1290917"/>
          <a:ext cx="5975250" cy="540672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 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용 자재 및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의뢰서 수령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자재 발송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퀵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또는 택배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의뢰서 및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의뢰요청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메일 발송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의뢰내역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및 진행사항 리스트 업데이트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각 제조사에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시작 및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종료일정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체크 후 상품개발팀에 일정표 공유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회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제조사로부터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결과서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수령 시 결과 및 특이사항 체크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부적합 또는 특이사항 발생 시 추가 테스트 가능한 부분은 테스트 후 의견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추가하여 상품개발팀에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결과서와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함께 공유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4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사양서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메일로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포장사양서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검토 의뢰 접수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파일 의뢰 품목 포장사양서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디자인팀 수정 필요사항은 각 담당자에 개별연락하여 수정요청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수정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가능사항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착인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표시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사항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은 직접 수정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4, 5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번 완료 및 이상 유무 여부 최종확인 후 서명 등록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592302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296382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CT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관리 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&amp;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포장사양서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검토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355705"/>
              </p:ext>
            </p:extLst>
          </p:nvPr>
        </p:nvGraphicFramePr>
        <p:xfrm>
          <a:off x="1400147" y="6159731"/>
          <a:ext cx="4460326" cy="235059"/>
        </p:xfrm>
        <a:graphic>
          <a:graphicData uri="http://schemas.openxmlformats.org/drawingml/2006/table">
            <a:tbl>
              <a:tblPr firstRow="1" bandRow="1"/>
              <a:tblGrid>
                <a:gridCol w="1505982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54344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350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특이사항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19821"/>
              </p:ext>
            </p:extLst>
          </p:nvPr>
        </p:nvGraphicFramePr>
        <p:xfrm>
          <a:off x="7160932" y="3931921"/>
          <a:ext cx="4652400" cy="241068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410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특이사항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45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3" y="74140"/>
            <a:ext cx="10775616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9.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수출서류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및 국내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QA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서류 대응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10. QA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서류 관리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365127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수출 서류 및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국내 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QA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서류 대응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29552"/>
              </p:ext>
            </p:extLst>
          </p:nvPr>
        </p:nvGraphicFramePr>
        <p:xfrm>
          <a:off x="111623" y="1290916"/>
          <a:ext cx="589848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93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4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41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수출서류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국내서류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영업팀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수출 및 국내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요청 메일 수신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   (COA, MSDS,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제조사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Letter, CGMP, ISO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인증서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제</a:t>
                      </a:r>
                      <a:r>
                        <a:rPr lang="ko-KR" altLang="en-US" sz="1200" baseline="0" dirty="0" err="1">
                          <a:latin typeface="+mn-ea"/>
                          <a:ea typeface="+mn-ea"/>
                        </a:rPr>
                        <a:t>품표준서</a:t>
                      </a:r>
                      <a:r>
                        <a:rPr lang="en-US" altLang="ko-KR" sz="1200" baseline="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200" baseline="0" dirty="0">
                          <a:latin typeface="+mn-ea"/>
                          <a:ea typeface="+mn-ea"/>
                        </a:rPr>
                        <a:t>시험성적서</a:t>
                      </a:r>
                      <a:r>
                        <a:rPr lang="en-US" altLang="ko-KR" sz="120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aseline="0" dirty="0">
                          <a:latin typeface="+mn-ea"/>
                          <a:ea typeface="+mn-ea"/>
                        </a:rPr>
                        <a:t>제조관리기록서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서류요청리스트 업데이트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해당 서류 유무 확인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3-1.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필수 구비 서류가 아닌 경우 → 제조업체 요청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메일 회신 후 서류 검토 및 수정 요청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검토 후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품질보증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(QA)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업로드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완료 후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영업으로 전달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5.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서류요청리스트 업데이트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6074620" y="730292"/>
            <a:ext cx="365127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QA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서류 관리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235098"/>
              </p:ext>
            </p:extLst>
          </p:nvPr>
        </p:nvGraphicFramePr>
        <p:xfrm>
          <a:off x="6074618" y="1290917"/>
          <a:ext cx="5937273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6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QA 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품목별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QA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서류 제조업체 요청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lang="ko-KR" altLang="en-US" sz="1100" baseline="0" dirty="0" err="1">
                          <a:latin typeface="+mn-ea"/>
                          <a:ea typeface="+mn-ea"/>
                        </a:rPr>
                        <a:t>제품표준서</a:t>
                      </a: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>
                          <a:latin typeface="+mn-ea"/>
                          <a:ea typeface="+mn-ea"/>
                        </a:rPr>
                        <a:t>시험성적서</a:t>
                      </a: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>
                          <a:latin typeface="+mn-ea"/>
                          <a:ea typeface="+mn-ea"/>
                        </a:rPr>
                        <a:t>제조관리기록서 등</a:t>
                      </a: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QA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서류 수령 후 검토 및 수정 요청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품질보증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(QA)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업로드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시장출하리스트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&amp;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1D9D6521-7F07-444A-85D7-84511C05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447" y="4129923"/>
            <a:ext cx="3930142" cy="14965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+mn-ea"/>
                <a:ea typeface="+mn-ea"/>
              </a:rPr>
              <a:t>주요 검토사항</a:t>
            </a:r>
            <a:endParaRPr lang="en-US" altLang="ko-KR" sz="1400" b="1" dirty="0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① 제품명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국문 및 영문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② 해당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품질서류별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필수 기재사항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    (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제조번호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사용기한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제품 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Spec, </a:t>
            </a: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    Flash Point,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주소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만료일자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발급일자 등</a:t>
            </a:r>
            <a:r>
              <a:rPr lang="en-US" altLang="ko-KR" sz="14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1D9D6521-7F07-444A-85D7-84511C05D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6177" y="2874247"/>
                <a:ext cx="3484812" cy="229626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highlight>
                      <a:srgbClr val="FFFF00"/>
                    </a:highlight>
                    <a:latin typeface="+mn-ea"/>
                    <a:ea typeface="+mn-ea"/>
                  </a:rPr>
                  <a:t>주요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highlight>
                      <a:srgbClr val="FFFF00"/>
                    </a:highlight>
                    <a:latin typeface="+mn-ea"/>
                    <a:ea typeface="+mn-ea"/>
                  </a:rPr>
                  <a:t>검토사항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highlight>
                    <a:srgbClr val="FFFF00"/>
                  </a:highlight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① 제품명 및 용량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② 제조번호 및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시험번호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③</a:t>
                </a: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제조일자 및 사용기한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④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시험항목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기준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⑤ 시험결과 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⑥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판정일자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판정결과</a:t>
                </a:r>
                <a:endParaRPr lang="en-US" altLang="ko-KR" sz="14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 </m:t>
                    </m:r>
                    <m:r>
                      <a:rPr lang="ko-KR" altLang="en-US" sz="1400" b="1" i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⑦</m:t>
                    </m:r>
                  </m:oMath>
                </a14:m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개정이력</a:t>
                </a:r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결재일자</a:t>
                </a: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14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제품표준서</a:t>
                </a:r>
                <a:r>
                  <a:rPr lang="en-US" altLang="ko-KR" sz="14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1D9D6521-7F07-444A-85D7-84511C05D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6177" y="2874247"/>
                <a:ext cx="3484812" cy="2296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82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 11.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시장출하승인기록서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관리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12.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자재표준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(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한도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)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견본 관리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2918961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시장출하승인기록서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관리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54454"/>
              </p:ext>
            </p:extLst>
          </p:nvPr>
        </p:nvGraphicFramePr>
        <p:xfrm>
          <a:off x="111621" y="1290917"/>
          <a:ext cx="588834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9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시장출하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승인기록서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시장출하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&amp;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업데이트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입고일자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기준 리스트 업데이트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생산수량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시험번호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판정일자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 작성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(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생산수량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시험번호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완제품시험성적서 확인 후 작성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시장승인출하리스트 업데이트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출하승인일자 기준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책임판매관리자 시장승인출하리스트 검토 및 결재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시장출하승인기록서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결재본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파일링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및 보관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674458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자재 </a:t>
                      </a: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표준견본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견본 검토 의뢰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-&gt;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→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담당자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2.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기능 및 외관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체결 등 담당자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 실시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3.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적합 시 견본 설정 및 견본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1ea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수령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설정한 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품질관리팀장 전달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품질관리팀장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검토결과 부적합 시 디자인팀 공유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검토결과 적합 시 </a:t>
                      </a:r>
                      <a:r>
                        <a:rPr kumimoji="0" lang="ko-KR" altLang="en-US" sz="11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</a:t>
                      </a:r>
                      <a:r>
                        <a:rPr kumimoji="0" lang="ko-KR" altLang="en-US" sz="11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문안검토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실시</a:t>
                      </a:r>
                      <a:endParaRPr kumimoji="0" lang="en-US" altLang="ko-KR" sz="11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자재표준견본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: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견본 이력관리용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2847050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자재 표준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한도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견본 관리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67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 13.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제품 부적합 처리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304958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제품 부적합 처리 프로세스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3D9110-4704-409A-938A-629D2895A0D2}"/>
              </a:ext>
            </a:extLst>
          </p:cNvPr>
          <p:cNvSpPr/>
          <p:nvPr/>
        </p:nvSpPr>
        <p:spPr>
          <a:xfrm>
            <a:off x="316177" y="1194741"/>
            <a:ext cx="11732837" cy="5234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0929249-8C31-41F8-811A-619F50DB9C9B}"/>
              </a:ext>
            </a:extLst>
          </p:cNvPr>
          <p:cNvGrpSpPr/>
          <p:nvPr/>
        </p:nvGrpSpPr>
        <p:grpSpPr>
          <a:xfrm>
            <a:off x="244560" y="1702345"/>
            <a:ext cx="9907121" cy="4552114"/>
            <a:chOff x="1474833" y="2221012"/>
            <a:chExt cx="8718783" cy="409870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B131C2E0-1C87-4B59-A02B-B8005DEBB325}"/>
                </a:ext>
              </a:extLst>
            </p:cNvPr>
            <p:cNvGrpSpPr/>
            <p:nvPr/>
          </p:nvGrpSpPr>
          <p:grpSpPr>
            <a:xfrm>
              <a:off x="8394679" y="2248111"/>
              <a:ext cx="1486827" cy="1878156"/>
              <a:chOff x="2232860" y="1720602"/>
              <a:chExt cx="1393293" cy="1763337"/>
            </a:xfrm>
          </p:grpSpPr>
          <p:sp>
            <p:nvSpPr>
              <p:cNvPr id="86" name="모서리가 둥근 직사각형 160">
                <a:extLst>
                  <a:ext uri="{FF2B5EF4-FFF2-40B4-BE49-F238E27FC236}">
                    <a16:creationId xmlns:a16="http://schemas.microsoft.com/office/drawing/2014/main" id="{7464D06A-DBD1-4352-8132-5853B5E02848}"/>
                  </a:ext>
                </a:extLst>
              </p:cNvPr>
              <p:cNvSpPr/>
              <p:nvPr/>
            </p:nvSpPr>
            <p:spPr>
              <a:xfrm>
                <a:off x="2232860" y="1720602"/>
                <a:ext cx="1393293" cy="70245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 ERP 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구매검사처리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_ 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부적합</a:t>
                </a:r>
              </a:p>
            </p:txBody>
          </p:sp>
          <p:sp>
            <p:nvSpPr>
              <p:cNvPr id="87" name="Rectangle 5">
                <a:extLst>
                  <a:ext uri="{FF2B5EF4-FFF2-40B4-BE49-F238E27FC236}">
                    <a16:creationId xmlns:a16="http://schemas.microsoft.com/office/drawing/2014/main" id="{958746C3-7496-4A9D-91C1-52A08BF81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860" y="2512294"/>
                <a:ext cx="1375733" cy="97164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제품의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ERP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구매검사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등록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F55F1E-075B-4B5A-9C35-D44F720DFBC4}"/>
                </a:ext>
              </a:extLst>
            </p:cNvPr>
            <p:cNvGrpSpPr/>
            <p:nvPr/>
          </p:nvGrpSpPr>
          <p:grpSpPr>
            <a:xfrm>
              <a:off x="3530550" y="2261933"/>
              <a:ext cx="2067846" cy="1911821"/>
              <a:chOff x="3475134" y="5712031"/>
              <a:chExt cx="2149279" cy="1315138"/>
            </a:xfrm>
          </p:grpSpPr>
          <p:sp>
            <p:nvSpPr>
              <p:cNvPr id="84" name="모서리가 둥근 직사각형 181">
                <a:extLst>
                  <a:ext uri="{FF2B5EF4-FFF2-40B4-BE49-F238E27FC236}">
                    <a16:creationId xmlns:a16="http://schemas.microsoft.com/office/drawing/2014/main" id="{1D8C3DA7-CB25-4D22-AC52-A134F4D79CC5}"/>
                  </a:ext>
                </a:extLst>
              </p:cNvPr>
              <p:cNvSpPr/>
              <p:nvPr/>
            </p:nvSpPr>
            <p:spPr>
              <a:xfrm>
                <a:off x="3475134" y="5712031"/>
                <a:ext cx="2149279" cy="5013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품질 정보 조사 </a:t>
                </a:r>
                <a:r>
                  <a:rPr lang="ko-KR" altLang="en-US" sz="1100" b="1" dirty="0" err="1">
                    <a:solidFill>
                      <a:schemeClr val="tx1"/>
                    </a:solidFill>
                    <a:latin typeface="+mn-ea"/>
                  </a:rPr>
                  <a:t>개선지시서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작성 및 결재   </a:t>
                </a:r>
              </a:p>
            </p:txBody>
          </p:sp>
          <p:sp>
            <p:nvSpPr>
              <p:cNvPr id="85" name="Rectangle 5">
                <a:extLst>
                  <a:ext uri="{FF2B5EF4-FFF2-40B4-BE49-F238E27FC236}">
                    <a16:creationId xmlns:a16="http://schemas.microsoft.com/office/drawing/2014/main" id="{FA8C5D03-B7CC-441B-B606-DA98637CA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5134" y="6281770"/>
                <a:ext cx="2149278" cy="7453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품질정보 등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작성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1.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 작성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-&gt;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품질관리팀장 승인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2.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내용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: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내용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원인분석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재작업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및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폐기요청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재발방지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요청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40628473-7E24-409E-A10E-C0FB79514C84}"/>
                </a:ext>
              </a:extLst>
            </p:cNvPr>
            <p:cNvCxnSpPr>
              <a:cxnSpLocks/>
            </p:cNvCxnSpPr>
            <p:nvPr/>
          </p:nvCxnSpPr>
          <p:spPr>
            <a:xfrm>
              <a:off x="3300914" y="302132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1BB31822-C1EF-4EBE-B146-3BE8612D9018}"/>
                </a:ext>
              </a:extLst>
            </p:cNvPr>
            <p:cNvCxnSpPr>
              <a:cxnSpLocks/>
            </p:cNvCxnSpPr>
            <p:nvPr/>
          </p:nvCxnSpPr>
          <p:spPr>
            <a:xfrm>
              <a:off x="5737824" y="3020375"/>
              <a:ext cx="205969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C22BBD39-607D-4A46-A13E-5E2193CED127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09" y="3020375"/>
              <a:ext cx="205969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F877A7-B98E-4087-A2BE-1010F358848F}"/>
                </a:ext>
              </a:extLst>
            </p:cNvPr>
            <p:cNvSpPr txBox="1"/>
            <p:nvPr/>
          </p:nvSpPr>
          <p:spPr>
            <a:xfrm>
              <a:off x="1474833" y="2248111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3A2BB5-B60B-47CC-8F40-1133D163700D}"/>
                </a:ext>
              </a:extLst>
            </p:cNvPr>
            <p:cNvSpPr txBox="1"/>
            <p:nvPr/>
          </p:nvSpPr>
          <p:spPr>
            <a:xfrm>
              <a:off x="5592612" y="2257008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F5E2F5C-533C-4DAE-9366-9CEB7F950716}"/>
                </a:ext>
              </a:extLst>
            </p:cNvPr>
            <p:cNvSpPr txBox="1"/>
            <p:nvPr/>
          </p:nvSpPr>
          <p:spPr>
            <a:xfrm>
              <a:off x="8013132" y="2221012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104414D-613C-4FCC-B273-FA3E5C973E68}"/>
                </a:ext>
              </a:extLst>
            </p:cNvPr>
            <p:cNvGrpSpPr/>
            <p:nvPr/>
          </p:nvGrpSpPr>
          <p:grpSpPr>
            <a:xfrm>
              <a:off x="1805867" y="2261936"/>
              <a:ext cx="1317975" cy="1902300"/>
              <a:chOff x="687981" y="1753646"/>
              <a:chExt cx="1174087" cy="1793364"/>
            </a:xfrm>
          </p:grpSpPr>
          <p:sp>
            <p:nvSpPr>
              <p:cNvPr id="82" name="Rectangle 5">
                <a:extLst>
                  <a:ext uri="{FF2B5EF4-FFF2-40B4-BE49-F238E27FC236}">
                    <a16:creationId xmlns:a16="http://schemas.microsoft.com/office/drawing/2014/main" id="{DEF64839-01F9-4C15-B95E-2AE4A7F0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108" y="2539246"/>
                <a:ext cx="1168554" cy="10077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관리품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QC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결과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부적합 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1.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유관부서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내용 공유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2.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보고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_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팀장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본부장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모서리가 둥근 직사각형 61">
                <a:extLst>
                  <a:ext uri="{FF2B5EF4-FFF2-40B4-BE49-F238E27FC236}">
                    <a16:creationId xmlns:a16="http://schemas.microsoft.com/office/drawing/2014/main" id="{6956CF62-BC56-48A7-B240-CE0E0107B108}"/>
                  </a:ext>
                </a:extLst>
              </p:cNvPr>
              <p:cNvSpPr/>
              <p:nvPr/>
            </p:nvSpPr>
            <p:spPr>
              <a:xfrm>
                <a:off x="687981" y="1753646"/>
                <a:ext cx="1174087" cy="6728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부적합 발생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보고 및 공유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4309980-01C4-4B2D-B0DB-2CE5DEAE2927}"/>
                </a:ext>
              </a:extLst>
            </p:cNvPr>
            <p:cNvGrpSpPr/>
            <p:nvPr/>
          </p:nvGrpSpPr>
          <p:grpSpPr>
            <a:xfrm>
              <a:off x="5943793" y="2261935"/>
              <a:ext cx="2060824" cy="1858715"/>
              <a:chOff x="3575601" y="5682663"/>
              <a:chExt cx="1943049" cy="1189943"/>
            </a:xfrm>
          </p:grpSpPr>
          <p:sp>
            <p:nvSpPr>
              <p:cNvPr id="80" name="모서리가 둥근 직사각형 69">
                <a:extLst>
                  <a:ext uri="{FF2B5EF4-FFF2-40B4-BE49-F238E27FC236}">
                    <a16:creationId xmlns:a16="http://schemas.microsoft.com/office/drawing/2014/main" id="{2929D9A8-ADDB-46E8-9F6A-D4D0A31A214A}"/>
                  </a:ext>
                </a:extLst>
              </p:cNvPr>
              <p:cNvSpPr/>
              <p:nvPr/>
            </p:nvSpPr>
            <p:spPr>
              <a:xfrm>
                <a:off x="3575603" y="5682663"/>
                <a:ext cx="1943047" cy="47376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제조업체 통보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품질 정보 조사 </a:t>
                </a:r>
                <a:r>
                  <a:rPr lang="ko-KR" altLang="en-US" sz="1100" b="1" dirty="0" err="1">
                    <a:solidFill>
                      <a:schemeClr val="tx1"/>
                    </a:solidFill>
                    <a:latin typeface="+mn-ea"/>
                  </a:rPr>
                  <a:t>개선지시서</a:t>
                </a:r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)</a:t>
                </a:r>
                <a:endParaRPr lang="ko-KR" altLang="en-US" sz="11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B4B6F23A-E720-4B20-A024-9223CED9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601" y="6213654"/>
                <a:ext cx="1943046" cy="6589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품질정보 조사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제조업체 영업담당자 이메일 전달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(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구매팀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등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유관부서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참조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)</a:t>
                </a: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스캔본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공유폴더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업로드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6A48A3E-AB32-4B6A-BC14-0F4C2B5F9DB9}"/>
                </a:ext>
              </a:extLst>
            </p:cNvPr>
            <p:cNvSpPr/>
            <p:nvPr/>
          </p:nvSpPr>
          <p:spPr>
            <a:xfrm>
              <a:off x="9855541" y="2246251"/>
              <a:ext cx="338075" cy="371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70000"/>
                <a:defRPr/>
              </a:pPr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⑤</a:t>
              </a:r>
              <a:endParaRPr lang="en-US" altLang="ko-KR" b="1" dirty="0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F37174A-A8D3-49AA-9B44-B4584EB11499}"/>
                </a:ext>
              </a:extLst>
            </p:cNvPr>
            <p:cNvGrpSpPr/>
            <p:nvPr/>
          </p:nvGrpSpPr>
          <p:grpSpPr>
            <a:xfrm>
              <a:off x="1907457" y="4575753"/>
              <a:ext cx="1625963" cy="1730920"/>
              <a:chOff x="728599" y="3723319"/>
              <a:chExt cx="1618628" cy="2029229"/>
            </a:xfrm>
          </p:grpSpPr>
          <p:sp>
            <p:nvSpPr>
              <p:cNvPr id="78" name="모서리가 둥근 직사각형 208">
                <a:extLst>
                  <a:ext uri="{FF2B5EF4-FFF2-40B4-BE49-F238E27FC236}">
                    <a16:creationId xmlns:a16="http://schemas.microsoft.com/office/drawing/2014/main" id="{C91F5F2D-7958-47C1-80FC-AE7DFB0AC914}"/>
                  </a:ext>
                </a:extLst>
              </p:cNvPr>
              <p:cNvSpPr/>
              <p:nvPr/>
            </p:nvSpPr>
            <p:spPr>
              <a:xfrm>
                <a:off x="728599" y="3723319"/>
                <a:ext cx="1618628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부적합처리현황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파일 업데이트</a:t>
                </a:r>
              </a:p>
            </p:txBody>
          </p:sp>
          <p:sp>
            <p:nvSpPr>
              <p:cNvPr id="79" name="Rectangle 5">
                <a:extLst>
                  <a:ext uri="{FF2B5EF4-FFF2-40B4-BE49-F238E27FC236}">
                    <a16:creationId xmlns:a16="http://schemas.microsoft.com/office/drawing/2014/main" id="{7BEB400E-FFB5-41B8-82DE-38A812E2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4"/>
                <a:ext cx="1592950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kumimoji="0"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內 부적합</a:t>
                </a:r>
                <a:endParaRPr kumimoji="0" lang="en-US" altLang="ko-KR" sz="1000" b="1" dirty="0">
                  <a:solidFill>
                    <a:schemeClr val="tx2">
                      <a:lumMod val="75000"/>
                    </a:schemeClr>
                  </a:solidFill>
                  <a:cs typeface="함초롬돋움" panose="020B0604000101010101" pitchFamily="50" charset="-127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kumimoji="0"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    </a:t>
                </a:r>
                <a:r>
                  <a:rPr kumimoji="0"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처리현황</a:t>
                </a:r>
                <a:r>
                  <a:rPr kumimoji="0"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</a:t>
                </a:r>
                <a:r>
                  <a:rPr kumimoji="0"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파일에 부적합</a:t>
                </a:r>
                <a:endParaRPr kumimoji="0"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cs typeface="함초롬돋움" panose="020B0604000101010101" pitchFamily="50" charset="-127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kumimoji="0"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   </a:t>
                </a:r>
                <a:r>
                  <a:rPr kumimoji="0"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발생</a:t>
                </a:r>
                <a:r>
                  <a:rPr kumimoji="0"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</a:t>
                </a:r>
                <a:r>
                  <a:rPr kumimoji="0"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내역 업데이트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07BB62B2-D074-451E-B44B-343C9EAD28F8}"/>
                </a:ext>
              </a:extLst>
            </p:cNvPr>
            <p:cNvGrpSpPr/>
            <p:nvPr/>
          </p:nvGrpSpPr>
          <p:grpSpPr>
            <a:xfrm>
              <a:off x="3869146" y="4569755"/>
              <a:ext cx="1680466" cy="1742774"/>
              <a:chOff x="202979" y="3669628"/>
              <a:chExt cx="1737928" cy="2043126"/>
            </a:xfrm>
          </p:grpSpPr>
          <p:sp>
            <p:nvSpPr>
              <p:cNvPr id="76" name="모서리가 둥근 직사각형 98">
                <a:extLst>
                  <a:ext uri="{FF2B5EF4-FFF2-40B4-BE49-F238E27FC236}">
                    <a16:creationId xmlns:a16="http://schemas.microsoft.com/office/drawing/2014/main" id="{54E6B2AA-C141-42DD-86FC-94A8D0B76712}"/>
                  </a:ext>
                </a:extLst>
              </p:cNvPr>
              <p:cNvSpPr/>
              <p:nvPr/>
            </p:nvSpPr>
            <p:spPr>
              <a:xfrm>
                <a:off x="202979" y="3669628"/>
                <a:ext cx="1737928" cy="77151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제조업체 </a:t>
                </a:r>
                <a:r>
                  <a:rPr lang="ko-KR" altLang="en-US" sz="1100" b="1" dirty="0" err="1">
                    <a:solidFill>
                      <a:schemeClr val="tx1"/>
                    </a:solidFill>
                    <a:latin typeface="+mn-ea"/>
                  </a:rPr>
                  <a:t>대책서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77" name="Rectangle 5">
                <a:extLst>
                  <a:ext uri="{FF2B5EF4-FFF2-40B4-BE49-F238E27FC236}">
                    <a16:creationId xmlns:a16="http://schemas.microsoft.com/office/drawing/2014/main" id="{0780B77E-45BC-4CFE-A41C-7E284042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51" y="4525875"/>
                <a:ext cx="1726656" cy="118687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: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1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 및 수정사항 통보</a:t>
                </a:r>
              </a:p>
            </p:txBody>
          </p: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E1C99955-A166-447F-927B-EC363F9F23B7}"/>
                </a:ext>
              </a:extLst>
            </p:cNvPr>
            <p:cNvCxnSpPr>
              <a:cxnSpLocks/>
            </p:cNvCxnSpPr>
            <p:nvPr/>
          </p:nvCxnSpPr>
          <p:spPr>
            <a:xfrm>
              <a:off x="3639516" y="5255453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B3B0247-2324-4DDE-AA42-B49392355A43}"/>
                </a:ext>
              </a:extLst>
            </p:cNvPr>
            <p:cNvSpPr/>
            <p:nvPr/>
          </p:nvSpPr>
          <p:spPr>
            <a:xfrm>
              <a:off x="1552429" y="4575420"/>
              <a:ext cx="3550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⑥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BFA9E97-57BF-447C-85E4-49C668C20E30}"/>
                </a:ext>
              </a:extLst>
            </p:cNvPr>
            <p:cNvSpPr/>
            <p:nvPr/>
          </p:nvSpPr>
          <p:spPr>
            <a:xfrm>
              <a:off x="3501575" y="4569755"/>
              <a:ext cx="299970" cy="332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⑦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FCDE831C-08D9-4861-A19B-AD30C95100F4}"/>
                </a:ext>
              </a:extLst>
            </p:cNvPr>
            <p:cNvCxnSpPr>
              <a:cxnSpLocks/>
            </p:cNvCxnSpPr>
            <p:nvPr/>
          </p:nvCxnSpPr>
          <p:spPr>
            <a:xfrm>
              <a:off x="5709140" y="526413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5ECAC5E-6AA0-4D7E-877E-06F1BE44806D}"/>
                </a:ext>
              </a:extLst>
            </p:cNvPr>
            <p:cNvGrpSpPr/>
            <p:nvPr/>
          </p:nvGrpSpPr>
          <p:grpSpPr>
            <a:xfrm>
              <a:off x="5938662" y="4575753"/>
              <a:ext cx="1522960" cy="1743965"/>
              <a:chOff x="-140385" y="3670953"/>
              <a:chExt cx="1530536" cy="2044522"/>
            </a:xfrm>
          </p:grpSpPr>
          <p:sp>
            <p:nvSpPr>
              <p:cNvPr id="74" name="모서리가 둥근 직사각형 106">
                <a:extLst>
                  <a:ext uri="{FF2B5EF4-FFF2-40B4-BE49-F238E27FC236}">
                    <a16:creationId xmlns:a16="http://schemas.microsoft.com/office/drawing/2014/main" id="{F5DF225F-76B3-464F-B9E0-954617473FFE}"/>
                  </a:ext>
                </a:extLst>
              </p:cNvPr>
              <p:cNvSpPr/>
              <p:nvPr/>
            </p:nvSpPr>
            <p:spPr>
              <a:xfrm>
                <a:off x="-140321" y="3670953"/>
                <a:ext cx="152251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제조업체 </a:t>
                </a:r>
                <a:r>
                  <a:rPr lang="ko-KR" altLang="en-US" sz="1100" b="1" dirty="0" err="1">
                    <a:solidFill>
                      <a:schemeClr val="tx1"/>
                    </a:solidFill>
                    <a:latin typeface="+mn-ea"/>
                  </a:rPr>
                  <a:t>대책서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7814B313-151E-4858-9C95-D1392FF32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40385" y="4520168"/>
                <a:ext cx="1530536" cy="119530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: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2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6310D67-B23F-4189-B051-3481086448ED}"/>
                </a:ext>
              </a:extLst>
            </p:cNvPr>
            <p:cNvSpPr/>
            <p:nvPr/>
          </p:nvSpPr>
          <p:spPr>
            <a:xfrm>
              <a:off x="5546766" y="4582891"/>
              <a:ext cx="340831" cy="332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latin typeface="+mn-ea"/>
                </a:rPr>
                <a:t>⑧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A8329EB5-57C7-424E-99C9-1827BC9E931C}"/>
                </a:ext>
              </a:extLst>
            </p:cNvPr>
            <p:cNvCxnSpPr>
              <a:cxnSpLocks/>
            </p:cNvCxnSpPr>
            <p:nvPr/>
          </p:nvCxnSpPr>
          <p:spPr>
            <a:xfrm>
              <a:off x="7651801" y="526724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4817F48E-D71D-4807-A581-20FFCFB8C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64101" y="5280686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870D7E71-295A-4DBE-950A-E0811812B8CC}"/>
                </a:ext>
              </a:extLst>
            </p:cNvPr>
            <p:cNvGrpSpPr/>
            <p:nvPr/>
          </p:nvGrpSpPr>
          <p:grpSpPr>
            <a:xfrm>
              <a:off x="7881436" y="4575420"/>
              <a:ext cx="1934797" cy="1744298"/>
              <a:chOff x="1807729" y="1766584"/>
              <a:chExt cx="1813081" cy="1637661"/>
            </a:xfrm>
          </p:grpSpPr>
          <p:sp>
            <p:nvSpPr>
              <p:cNvPr id="72" name="모서리가 둥근 직사각형 43">
                <a:extLst>
                  <a:ext uri="{FF2B5EF4-FFF2-40B4-BE49-F238E27FC236}">
                    <a16:creationId xmlns:a16="http://schemas.microsoft.com/office/drawing/2014/main" id="{21A0F1E2-C6E0-461B-B914-F256CE72C729}"/>
                  </a:ext>
                </a:extLst>
              </p:cNvPr>
              <p:cNvSpPr/>
              <p:nvPr/>
            </p:nvSpPr>
            <p:spPr>
              <a:xfrm>
                <a:off x="1807730" y="1766584"/>
                <a:ext cx="1806351" cy="63846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제품 부적합 처리</a:t>
                </a:r>
                <a:endParaRPr lang="en-US" altLang="ko-KR" sz="1100" b="1" dirty="0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 dirty="0">
                    <a:solidFill>
                      <a:schemeClr val="tx1"/>
                    </a:solidFill>
                    <a:latin typeface="+mn-ea"/>
                  </a:rPr>
                  <a:t>결과 보고서 작성</a:t>
                </a:r>
              </a:p>
            </p:txBody>
          </p:sp>
          <p:sp>
            <p:nvSpPr>
              <p:cNvPr id="73" name="Rectangle 5">
                <a:extLst>
                  <a:ext uri="{FF2B5EF4-FFF2-40B4-BE49-F238E27FC236}">
                    <a16:creationId xmlns:a16="http://schemas.microsoft.com/office/drawing/2014/main" id="{72ED26B6-3F61-42B9-929C-DF3FC1AF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729" y="2453608"/>
                <a:ext cx="1813081" cy="9506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 부적합 처리 결과 보고서 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작성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담당자 작성 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-&gt; 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팀장 승인</a:t>
                </a: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</a:t>
                </a: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처리결과보고서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dirty="0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 dirty="0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075AA6D-B971-49B8-93A4-18792A814136}"/>
                </a:ext>
              </a:extLst>
            </p:cNvPr>
            <p:cNvSpPr txBox="1"/>
            <p:nvPr/>
          </p:nvSpPr>
          <p:spPr>
            <a:xfrm>
              <a:off x="3189087" y="2248111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</p:grp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904231"/>
              </p:ext>
            </p:extLst>
          </p:nvPr>
        </p:nvGraphicFramePr>
        <p:xfrm>
          <a:off x="3478217" y="618888"/>
          <a:ext cx="4652400" cy="53057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5464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부적합 처리 현황 보고</a:t>
                      </a:r>
                      <a:r>
                        <a:rPr lang="en-US" altLang="ko-KR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부적합 발생 시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sp>
        <p:nvSpPr>
          <p:cNvPr id="91" name="모서리가 둥근 직사각형 160">
            <a:extLst>
              <a:ext uri="{FF2B5EF4-FFF2-40B4-BE49-F238E27FC236}">
                <a16:creationId xmlns:a16="http://schemas.microsoft.com/office/drawing/2014/main" id="{7464D06A-DBD1-4352-8132-5853B5E02848}"/>
              </a:ext>
            </a:extLst>
          </p:cNvPr>
          <p:cNvSpPr/>
          <p:nvPr/>
        </p:nvSpPr>
        <p:spPr>
          <a:xfrm>
            <a:off x="10169896" y="1732443"/>
            <a:ext cx="1770800" cy="8247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입고검사관리대장 작성</a:t>
            </a:r>
          </a:p>
        </p:txBody>
      </p:sp>
      <p:sp>
        <p:nvSpPr>
          <p:cNvPr id="92" name="Rectangle 5">
            <a:extLst>
              <a:ext uri="{FF2B5EF4-FFF2-40B4-BE49-F238E27FC236}">
                <a16:creationId xmlns:a16="http://schemas.microsoft.com/office/drawing/2014/main" id="{958746C3-7496-4A9D-91C1-52A08BF8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9896" y="2667392"/>
            <a:ext cx="1750554" cy="1144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000" b="1" dirty="0" err="1">
                <a:solidFill>
                  <a:schemeClr val="tx2">
                    <a:lumMod val="75000"/>
                  </a:schemeClr>
                </a:solidFill>
                <a:latin typeface="+mn-ea"/>
              </a:rPr>
              <a:t>공유폴더</a:t>
            </a:r>
            <a:r>
              <a:rPr lang="ko-KR" altLang="en-US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kumimoji="0" lang="ko-KR" altLang="en-US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內 일일</a:t>
            </a:r>
            <a:endParaRPr kumimoji="0" lang="en-US" altLang="ko-KR" sz="1000" b="1" dirty="0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 dirty="0" err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입고검사</a:t>
            </a:r>
            <a:r>
              <a:rPr kumimoji="0" lang="ko-KR" altLang="en-US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</a:t>
            </a:r>
            <a:r>
              <a:rPr kumimoji="0" lang="ko-KR" altLang="en-US" sz="1000" b="1" dirty="0" err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관리대장에</a:t>
            </a:r>
            <a:endParaRPr kumimoji="0" lang="en-US" altLang="ko-KR" sz="1000" b="1" dirty="0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부적합 사항 기입하여</a:t>
            </a:r>
            <a:endParaRPr kumimoji="0" lang="en-US" altLang="ko-KR" sz="1000" b="1" dirty="0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이력관리</a:t>
            </a:r>
            <a:endParaRPr lang="en-US" altLang="ko-KR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22BBD39-607D-4A46-A13E-5E2193CED127}"/>
              </a:ext>
            </a:extLst>
          </p:cNvPr>
          <p:cNvCxnSpPr>
            <a:cxnSpLocks/>
          </p:cNvCxnSpPr>
          <p:nvPr/>
        </p:nvCxnSpPr>
        <p:spPr>
          <a:xfrm>
            <a:off x="9935854" y="2590135"/>
            <a:ext cx="234042" cy="0"/>
          </a:xfrm>
          <a:prstGeom prst="straightConnector1">
            <a:avLst/>
          </a:prstGeom>
          <a:ln w="28575">
            <a:solidFill>
              <a:srgbClr val="EC73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모서리가 둥근 직사각형 43">
            <a:extLst>
              <a:ext uri="{FF2B5EF4-FFF2-40B4-BE49-F238E27FC236}">
                <a16:creationId xmlns:a16="http://schemas.microsoft.com/office/drawing/2014/main" id="{21A0F1E2-C6E0-461B-B914-F256CE72C729}"/>
              </a:ext>
            </a:extLst>
          </p:cNvPr>
          <p:cNvSpPr/>
          <p:nvPr/>
        </p:nvSpPr>
        <p:spPr>
          <a:xfrm>
            <a:off x="10123143" y="4286550"/>
            <a:ext cx="1790636" cy="7552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부적합처리현황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파일 업데이트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72ED26B6-3F61-42B9-929C-DF3FC1AF5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3143" y="5129912"/>
            <a:ext cx="1797308" cy="1153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000" b="1" dirty="0" err="1">
                <a:solidFill>
                  <a:schemeClr val="tx2">
                    <a:lumMod val="75000"/>
                  </a:schemeClr>
                </a:solidFill>
                <a:latin typeface="+mn-ea"/>
              </a:rPr>
              <a:t>공유폴더</a:t>
            </a:r>
            <a:r>
              <a:rPr lang="ko-KR" altLang="en-US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kumimoji="0" lang="ko-KR" altLang="en-US" sz="1000" b="1" dirty="0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內 부적합</a:t>
            </a:r>
            <a:endParaRPr kumimoji="0" lang="en-US" altLang="ko-KR" sz="1000" b="1" dirty="0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처리현황 파일에 부적합</a:t>
            </a:r>
            <a:endParaRPr lang="en-US" altLang="ko-KR" sz="100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00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처리결과 업데이트</a:t>
            </a:r>
            <a:endParaRPr lang="en-US" altLang="ko-KR" sz="100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A8329EB5-57C7-424E-99C9-1827BC9E931C}"/>
              </a:ext>
            </a:extLst>
          </p:cNvPr>
          <p:cNvCxnSpPr>
            <a:cxnSpLocks/>
          </p:cNvCxnSpPr>
          <p:nvPr/>
        </p:nvCxnSpPr>
        <p:spPr>
          <a:xfrm>
            <a:off x="9890748" y="5081719"/>
            <a:ext cx="260933" cy="0"/>
          </a:xfrm>
          <a:prstGeom prst="straightConnector1">
            <a:avLst/>
          </a:prstGeom>
          <a:ln w="28575">
            <a:solidFill>
              <a:srgbClr val="EC73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6310D67-B23F-4189-B051-3481086448ED}"/>
              </a:ext>
            </a:extLst>
          </p:cNvPr>
          <p:cNvSpPr/>
          <p:nvPr/>
        </p:nvSpPr>
        <p:spPr>
          <a:xfrm>
            <a:off x="7093193" y="4333418"/>
            <a:ext cx="387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>⑨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6310D67-B23F-4189-B051-3481086448ED}"/>
              </a:ext>
            </a:extLst>
          </p:cNvPr>
          <p:cNvSpPr/>
          <p:nvPr/>
        </p:nvSpPr>
        <p:spPr>
          <a:xfrm>
            <a:off x="9705118" y="4286353"/>
            <a:ext cx="387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>⑩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847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14.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제조업체 관리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3789817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제조업체관리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기존업체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정기평가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56677"/>
              </p:ext>
            </p:extLst>
          </p:nvPr>
        </p:nvGraphicFramePr>
        <p:xfrm>
          <a:off x="111622" y="1290917"/>
          <a:ext cx="5765195" cy="523623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9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제조업체관리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sng" kern="1200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u="none" kern="120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sng" kern="1200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기존업체</a:t>
                      </a:r>
                      <a:endParaRPr lang="en-US" altLang="ko-KR" sz="1400" b="1" u="sng" kern="1200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none" kern="1200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400" b="1" u="none" kern="120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정기평가</a:t>
                      </a:r>
                      <a:endParaRPr lang="en-US" altLang="ko-KR" sz="1400" b="1" u="none" kern="120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매년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– </a:t>
                      </a:r>
                      <a:r>
                        <a:rPr kumimoji="0" lang="ko-KR" altLang="en-US" sz="11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연간 제조업체 정기평가 계획 수립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          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예정업체와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평가일정사전협의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자체평가 요청 및 평가서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정기 평가 실시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평가기준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제조업체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보고서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정기평가 결과 보고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담당자→팀장→본부장→대표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 결과 제조업체 통보 및 개선 지시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첨부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제조업자의 제조품질관리의 확인서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제조업자의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평가서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정기평가관련 서류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스캔본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자제평가서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확인서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</a:t>
                      </a:r>
                      <a:r>
                        <a:rPr kumimoji="0" lang="ko-KR" altLang="en-US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평가서</a:t>
                      </a:r>
                      <a:r>
                        <a:rPr kumimoji="0" lang="en-US" altLang="ko-KR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800339"/>
              </p:ext>
            </p:extLst>
          </p:nvPr>
        </p:nvGraphicFramePr>
        <p:xfrm>
          <a:off x="6018415" y="1290917"/>
          <a:ext cx="6061962" cy="523623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3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29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제조업체관리</a:t>
                      </a:r>
                      <a:endParaRPr lang="en-US" altLang="ko-KR" sz="1400" b="1" u="sng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u="sng" kern="120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none" kern="120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sng" kern="120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신규업체</a:t>
                      </a:r>
                      <a:endParaRPr lang="en-US" altLang="ko-KR" sz="1400" b="1" u="sng" kern="120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u="non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400" b="1" u="none" kern="120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수시평가</a:t>
                      </a:r>
                      <a:endParaRPr lang="en-US" altLang="ko-KR" sz="1400" b="1" u="none" kern="120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상품개발팀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 신규업체평가 요청 접수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자체평가 요청 및 평가서 검토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(+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서류평가서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참고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평가일정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사전 협의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+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평가 실시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+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→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평가기준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제조업체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보고서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 결과 보고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담당자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팀장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 결과 제조업체 통보 및 개선지시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첨부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개선지시서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평가결과 유관부서 공유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신규업체의 개선결과서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 평가서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신규업체평가관련 서류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스캔본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(1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차 서류평가서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개선결과평가서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8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370919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제조업체 관리</a:t>
            </a:r>
            <a:r>
              <a:rPr lang="en-US" altLang="ko-KR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신규업체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수시평가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042676"/>
              </p:ext>
            </p:extLst>
          </p:nvPr>
        </p:nvGraphicFramePr>
        <p:xfrm>
          <a:off x="1612669" y="5852160"/>
          <a:ext cx="4039986" cy="601384"/>
        </p:xfrm>
        <a:graphic>
          <a:graphicData uri="http://schemas.openxmlformats.org/drawingml/2006/table">
            <a:tbl>
              <a:tblPr firstRow="1" bandRow="1"/>
              <a:tblGrid>
                <a:gridCol w="1364059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675927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6013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rtl="0" fontAlgn="ctr">
                        <a:buFontTx/>
                        <a:buAutoNum type="arabicPeriod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연간 평가 계획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ko-KR" altLang="en-US" sz="1100" dirty="0"/>
                        <a:t>                         연간 평가 결과</a:t>
                      </a:r>
                      <a:endParaRPr lang="en-US" altLang="ko-KR" sz="1100" baseline="0" dirty="0"/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altLang="ko-KR" sz="1100" baseline="0" dirty="0"/>
                        <a:t>          </a:t>
                      </a:r>
                      <a:r>
                        <a:rPr lang="en-US" altLang="ko-KR" sz="1100" dirty="0"/>
                        <a:t>2.  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_</a:t>
                      </a:r>
                      <a:r>
                        <a:rPr lang="ko-KR" altLang="en-US" sz="1100" dirty="0"/>
                        <a:t>정기 평가 결과 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201288"/>
              </p:ext>
            </p:extLst>
          </p:nvPr>
        </p:nvGraphicFramePr>
        <p:xfrm>
          <a:off x="7506393" y="5852160"/>
          <a:ext cx="4355869" cy="601384"/>
        </p:xfrm>
        <a:graphic>
          <a:graphicData uri="http://schemas.openxmlformats.org/drawingml/2006/table">
            <a:tbl>
              <a:tblPr firstRow="1" bandRow="1"/>
              <a:tblGrid>
                <a:gridCol w="147071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885155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연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연간 평가결과 보고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신규업체 평가 진행 시 결과 보고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06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15.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안전성 정기보고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16.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안전관리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안전성 정기보고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62764"/>
              </p:ext>
            </p:extLst>
          </p:nvPr>
        </p:nvGraphicFramePr>
        <p:xfrm>
          <a:off x="111622" y="1290917"/>
          <a:ext cx="576519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안전성 정기보고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(KFDA)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신속보고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되지 아니한 화장품의 안전성 정보 작성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매년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7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안전성 정기보고 기안 상신 후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내부결재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안전성 정기보고 실시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 KFDA 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온라인 보고 </a:t>
                      </a:r>
                      <a:r>
                        <a:rPr kumimoji="0" lang="en-US" altLang="ko-KR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식품의약품안전처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『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의약품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안전나라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의약품통합정보시스템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(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  <a:hlinkClick r:id="rId3"/>
                        </a:rPr>
                        <a:t>http://nedrug.mfds.go.kr)』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로그인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전자보고신청 → 화장품안전성 정보 정기보고 → 보고서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 저장 →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보고완료</a:t>
                      </a:r>
                      <a:endParaRPr kumimoji="0" lang="en-US" altLang="ko-KR" sz="11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771361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4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안전관리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정보수집</a:t>
                      </a: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조치</a:t>
                      </a: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기록 등</a:t>
                      </a:r>
                      <a:r>
                        <a:rPr lang="en-US" altLang="ko-KR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안전관리 정보 수집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회 이상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안전관리 정보 수집 및 정보 기록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자사 매뉴얼 별지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 서식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국내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외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유해사례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정보 수집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온라인 사이트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기사 문헌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학회 등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소비자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판매자로부터의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정보 수집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_CS,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클레임 등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안전관리 정보의 검토 및 조치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수집한 정보에 대한 관련부서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상품개발팀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영업팀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등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의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의견을 수렴하고 필요한 경우 회의를 통해 안전확보 조치사항을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검토 및 결정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사양변경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처방변경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공정개선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사용방법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사용할 때의 주의사항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첨부문서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개정 등 안전확보 조치가 필요한 경우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『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품질관리기준 매뉴얼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 등에 관한 정보 및 품질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불량 등의 처리 절차에 따름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2)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제품의 회수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폐기 등 안전확보 조치가 필요한 경우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 『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품질관리기준 매뉴얼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회수처리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절차에 따름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3)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식약처에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보고하여야 하는 안전확보 조치를 실시하는 경우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 안전성 정보의 </a:t>
                      </a:r>
                      <a:r>
                        <a:rPr kumimoji="0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신속보고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또는 안전성 정보의 정기보고 실시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안전관리정보의 검토 및 조치사항을 기록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자사 매뉴얼 별지 </a:t>
                      </a:r>
                      <a:r>
                        <a:rPr kumimoji="0" lang="en-US" altLang="ko-KR" sz="105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05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호서식</a:t>
                      </a:r>
                      <a:endParaRPr kumimoji="0" lang="en-US" altLang="ko-KR" sz="105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2" y="730292"/>
            <a:ext cx="2178026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화장품 안전관리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19" y="3509417"/>
            <a:ext cx="4676326" cy="215986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38966"/>
              </p:ext>
            </p:extLst>
          </p:nvPr>
        </p:nvGraphicFramePr>
        <p:xfrm>
          <a:off x="1101019" y="5760720"/>
          <a:ext cx="4676326" cy="601384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6013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반기 별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매년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월</a:t>
                      </a:r>
                      <a:r>
                        <a:rPr lang="en-US" altLang="ko-KR" sz="1100" baseline="0" dirty="0"/>
                        <a:t> / 7</a:t>
                      </a:r>
                      <a:r>
                        <a:rPr lang="ko-KR" altLang="en-US" sz="1100" baseline="0" dirty="0"/>
                        <a:t>월 실시</a:t>
                      </a:r>
                      <a:r>
                        <a:rPr lang="en-US" altLang="ko-KR" sz="1100" baseline="0" dirty="0"/>
                        <a:t>)</a:t>
                      </a:r>
                      <a:r>
                        <a:rPr lang="ko-KR" altLang="en-US" sz="1100" dirty="0"/>
                        <a:t> 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76049"/>
              </p:ext>
            </p:extLst>
          </p:nvPr>
        </p:nvGraphicFramePr>
        <p:xfrm>
          <a:off x="7514705" y="6033925"/>
          <a:ext cx="4480560" cy="310439"/>
        </p:xfrm>
        <a:graphic>
          <a:graphicData uri="http://schemas.openxmlformats.org/drawingml/2006/table">
            <a:tbl>
              <a:tblPr firstRow="1" bandRow="1"/>
              <a:tblGrid>
                <a:gridCol w="1512815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67745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104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안전성 정보 </a:t>
                      </a:r>
                      <a:r>
                        <a:rPr lang="ko-KR" altLang="en-US" sz="1100" dirty="0" err="1"/>
                        <a:t>수시보고</a:t>
                      </a:r>
                      <a:r>
                        <a:rPr lang="ko-KR" altLang="en-US" sz="1100" dirty="0"/>
                        <a:t> 필요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18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17.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광고문안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검토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18.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기능성화장품 심사제외품목 보고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광고문안 검토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6492"/>
              </p:ext>
            </p:extLst>
          </p:nvPr>
        </p:nvGraphicFramePr>
        <p:xfrm>
          <a:off x="111622" y="1290917"/>
          <a:ext cx="576519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광고문안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광고문안 검토 메일 의뢰 접수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의뢰내역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광고문안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후 수정필요사항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수정요청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가이드 표시 및 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검토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의뢰부서에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결과 전달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 업데이트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의뢰부서에서 수정 후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수정본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재검토 의뢰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문안검토의뢰 내역 업데이트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재검토 및 검토결과 전달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 업데이트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301750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기능성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심사제외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품목보고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 심사제외품목 보고 의뢰 접수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의약품안전나라 사이트에서 기능성심사제외품목 보고 실시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『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화장품법시행규칙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조 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항 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호의 경우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기능성화장품심사면제제품제조수입보고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작성 및 보고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『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화장품법시행규칙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조 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항 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 또는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호의 경우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기심사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품목 기능성 정보제공 요청 신청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 정보제공 승인 요청 메일 발송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3) (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제조사에서 정보제공 승인 시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기능성화장품심사면제제품제조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수입보고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작성 및 보고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기능성화장품심사제외품목보고서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다운로드 후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업로드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2" y="730292"/>
            <a:ext cx="2178026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화장품 안전관리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95438"/>
              </p:ext>
            </p:extLst>
          </p:nvPr>
        </p:nvGraphicFramePr>
        <p:xfrm>
          <a:off x="1109332" y="5738553"/>
          <a:ext cx="4676326" cy="382385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특이사항 발생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242575"/>
              </p:ext>
            </p:extLst>
          </p:nvPr>
        </p:nvGraphicFramePr>
        <p:xfrm>
          <a:off x="7194375" y="5738554"/>
          <a:ext cx="4676326" cy="382385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특이사항 발생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83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19.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정품여부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확인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20.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개정법규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대응</a:t>
            </a:r>
            <a:endParaRPr lang="ko-KR" altLang="en-US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529977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정품여부 확인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80280"/>
              </p:ext>
            </p:extLst>
          </p:nvPr>
        </p:nvGraphicFramePr>
        <p:xfrm>
          <a:off x="111622" y="1290917"/>
          <a:ext cx="576519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정품여부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정품여부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확인요청 메일 접수 및 실물 수령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정품여부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확인요청 접수 건 보고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 제품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차 확인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생산이력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(QC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리스트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 및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유관부서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물류팀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차 확인 요청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생산 이력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출고 정보 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제품 실물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외관 비교 검사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착인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자재 사양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인쇄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문안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라벨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원단 모양 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                   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및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표준품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비교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관능 검사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색상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향취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사용감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정품여부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확인 결과보고서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정품여부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확인 결과 보고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정품여부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확인 결과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메일전달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31136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4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개정법규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식약처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환경공단 등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개정법령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확인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주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회 이상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자사 제품 적용 필요 여부 확인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표시사항 변경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적용 필요 제품 리스트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사항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내용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시행일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유예기간 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공유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회의 및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대응 계획 수립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대응 계획 보고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담당자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 팀장 → 본부장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개정법규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진행사항 주기적 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2" y="730292"/>
            <a:ext cx="2378238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화장품 개정법규 대응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18180"/>
              </p:ext>
            </p:extLst>
          </p:nvPr>
        </p:nvGraphicFramePr>
        <p:xfrm>
          <a:off x="1109332" y="5677594"/>
          <a:ext cx="4676326" cy="382385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 err="1"/>
                        <a:t>정품여부</a:t>
                      </a:r>
                      <a:r>
                        <a:rPr lang="ko-KR" altLang="en-US" sz="1100" dirty="0"/>
                        <a:t> 확인 요청 접수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068808"/>
              </p:ext>
            </p:extLst>
          </p:nvPr>
        </p:nvGraphicFramePr>
        <p:xfrm>
          <a:off x="7464829" y="5458595"/>
          <a:ext cx="4455622" cy="601384"/>
        </p:xfrm>
        <a:graphic>
          <a:graphicData uri="http://schemas.openxmlformats.org/drawingml/2006/table">
            <a:tbl>
              <a:tblPr firstRow="1" bandRow="1"/>
              <a:tblGrid>
                <a:gridCol w="1504395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51227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연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개정법규</a:t>
                      </a:r>
                      <a:r>
                        <a:rPr lang="ko-KR" altLang="en-US" sz="1100" dirty="0"/>
                        <a:t> 대응 </a:t>
                      </a:r>
                      <a:r>
                        <a:rPr lang="ko-KR" altLang="en-US" sz="1100" dirty="0" err="1"/>
                        <a:t>진행현황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 err="1"/>
                        <a:t>개정법규</a:t>
                      </a:r>
                      <a:r>
                        <a:rPr lang="ko-KR" altLang="en-US" sz="1100" dirty="0"/>
                        <a:t> 제품 적용 필요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77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/>
          <a:lstStyle/>
          <a:p>
            <a:r>
              <a:rPr lang="en-US" altLang="ko-KR" dirty="0">
                <a:solidFill>
                  <a:srgbClr val="4A1026"/>
                </a:solidFill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21.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식약처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</a:t>
            </a:r>
            <a:r>
              <a:rPr lang="ko-KR" altLang="en-US" dirty="0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대관업무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</a:t>
            </a:r>
            <a:r>
              <a:rPr lang="en-US" altLang="ko-KR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22. </a:t>
            </a:r>
            <a:r>
              <a:rPr lang="ko-KR" altLang="en-US" dirty="0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교육</a:t>
            </a:r>
            <a:r>
              <a:rPr lang="en-US" altLang="ko-KR" dirty="0">
                <a:solidFill>
                  <a:srgbClr val="4A1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0" dirty="0">
                <a:solidFill>
                  <a:srgbClr val="4A10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훈련</a:t>
            </a:r>
            <a:endParaRPr lang="ko-KR" altLang="en-US" b="0" dirty="0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식약처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대관업무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57803"/>
              </p:ext>
            </p:extLst>
          </p:nvPr>
        </p:nvGraphicFramePr>
        <p:xfrm>
          <a:off x="111622" y="1290917"/>
          <a:ext cx="5765195" cy="55842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식약처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대관업무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식품의약품안전처 수시 또는 </a:t>
                      </a:r>
                      <a:r>
                        <a:rPr kumimoji="0" lang="ko-KR" altLang="en-US" sz="11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대응</a:t>
                      </a:r>
                      <a:endParaRPr kumimoji="0" lang="en-US" altLang="ko-KR" sz="11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대상 선정 공문 및 보고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탐정 → 본부장 → 대표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감시 대응 회의 및 자료 작성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검토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요청 자료 제출 기안 작성 및 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라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요청 자료 제출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화장품책이판매업</a:t>
                      </a:r>
                      <a:r>
                        <a:rPr kumimoji="0" lang="ko-KR" altLang="en-US" sz="11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변경등록 등</a:t>
                      </a:r>
                      <a:endParaRPr kumimoji="0" lang="en-US" altLang="ko-KR" sz="11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1)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필요서류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준비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기안 및 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 → 대표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3)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및 서류 제출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(KFDA)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4)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등록필증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원본 제출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5)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완료 확인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6)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등록필증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원본 수령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변경사항 기입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*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전자문서변경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30816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10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훈련</a:t>
                      </a:r>
                      <a:endParaRPr lang="en-US" altLang="ko-KR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연간 교육 실시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연간교육계획 수립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매년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월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교육대상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일정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내용 등을 정하여 연간 교육 계획을 선정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연간교육계획서 기안 및 결재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팀장 → 본부장 → 대표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교육실시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반기 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회 이상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온라인교육 또는 외부교육으로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대체가능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 자료 작성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 참석 공지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3)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 실시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교육실시기록서 작성 및 보관 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교육참석자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명단 서명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교육실시기록서  작성 및 책임판매관리자 서명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3)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관련 서류 원본 보관 관리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화장품책임판매관리자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법정교육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화장품책임판매관리자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법정교육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신청 관련 기안 및 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화장품책임판매관리자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법정교육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신청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화장품책임판매관리자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법정교육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수강 및 시험 →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교육수료증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발급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2" y="730292"/>
            <a:ext cx="2178026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화장품 </a:t>
            </a:r>
            <a:r>
              <a:rPr lang="ko-KR" altLang="en-US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교육⋅훈련</a:t>
            </a:r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  <a:endParaRPr lang="en-US" altLang="ko-KR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186097"/>
              </p:ext>
            </p:extLst>
          </p:nvPr>
        </p:nvGraphicFramePr>
        <p:xfrm>
          <a:off x="1147156" y="6152852"/>
          <a:ext cx="4455622" cy="538894"/>
        </p:xfrm>
        <a:graphic>
          <a:graphicData uri="http://schemas.openxmlformats.org/drawingml/2006/table">
            <a:tbl>
              <a:tblPr firstRow="1" bandRow="1"/>
              <a:tblGrid>
                <a:gridCol w="1504395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51227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6944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연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식약처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대관업무</a:t>
                      </a:r>
                      <a:r>
                        <a:rPr lang="ko-KR" altLang="en-US" sz="1100" dirty="0"/>
                        <a:t> 진행사항 보고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6944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식품의약품안전처 </a:t>
                      </a:r>
                      <a:r>
                        <a:rPr lang="ko-KR" altLang="en-US" sz="1100" dirty="0" err="1"/>
                        <a:t>대관업무</a:t>
                      </a:r>
                      <a:r>
                        <a:rPr lang="ko-KR" altLang="en-US" sz="1100" dirty="0"/>
                        <a:t> 발생 시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613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174327"/>
              </p:ext>
            </p:extLst>
          </p:nvPr>
        </p:nvGraphicFramePr>
        <p:xfrm>
          <a:off x="7194375" y="6194988"/>
          <a:ext cx="4676326" cy="227311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27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 dirty="0"/>
                        <a:t>연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연간교육계획서</a:t>
                      </a:r>
                      <a:r>
                        <a:rPr lang="en-US" altLang="ko-KR" sz="1100" dirty="0"/>
                        <a:t>_</a:t>
                      </a:r>
                      <a:r>
                        <a:rPr lang="ko-KR" altLang="en-US" sz="1100" dirty="0"/>
                        <a:t>매년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월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064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43A8E3-DF86-F334-151B-741DFFF4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01" y="2601132"/>
            <a:ext cx="1741108" cy="6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18307A-2DAB-A413-C45B-5F45CFFF9995}"/>
              </a:ext>
            </a:extLst>
          </p:cNvPr>
          <p:cNvSpPr/>
          <p:nvPr/>
        </p:nvSpPr>
        <p:spPr>
          <a:xfrm>
            <a:off x="1627104" y="3429003"/>
            <a:ext cx="8900109" cy="69508"/>
          </a:xfrm>
          <a:prstGeom prst="rect">
            <a:avLst/>
          </a:prstGeom>
          <a:solidFill>
            <a:srgbClr val="F2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916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9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90A23-886D-4644-AA71-6DD9F48E9B15}"/>
              </a:ext>
            </a:extLst>
          </p:cNvPr>
          <p:cNvSpPr txBox="1"/>
          <p:nvPr/>
        </p:nvSpPr>
        <p:spPr>
          <a:xfrm>
            <a:off x="7968209" y="5229201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감사합니다</a:t>
            </a:r>
            <a:r>
              <a:rPr lang="en-US" altLang="ko-KR" sz="3600" spc="-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.</a:t>
            </a:r>
            <a:endParaRPr lang="ko-KR" altLang="en-US" sz="3600" spc="-3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43227C8-6B16-4B26-BE86-8BAED6E10E1B}"/>
              </a:ext>
            </a:extLst>
          </p:cNvPr>
          <p:cNvSpPr txBox="1"/>
          <p:nvPr/>
        </p:nvSpPr>
        <p:spPr>
          <a:xfrm>
            <a:off x="3625384" y="2773526"/>
            <a:ext cx="4127966" cy="440817"/>
          </a:xfrm>
          <a:prstGeom prst="rect">
            <a:avLst/>
          </a:prstGeom>
          <a:noFill/>
        </p:spPr>
        <p:txBody>
          <a:bodyPr wrap="square" lIns="70795" tIns="35397" rIns="70795" bIns="35397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품질관리 </a:t>
            </a:r>
            <a:r>
              <a:rPr lang="en-US" altLang="ko-KR" sz="24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System </a:t>
            </a:r>
            <a:r>
              <a:rPr lang="ko-KR" altLang="en-US" sz="24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체계 확립</a:t>
            </a:r>
            <a:r>
              <a:rPr lang="ko-KR" altLang="en-US" sz="20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97426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10520</TotalTime>
  <Words>3378</Words>
  <Application>Microsoft Office PowerPoint</Application>
  <PresentationFormat>와이드스크린</PresentationFormat>
  <Paragraphs>747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16</vt:i4>
      </vt:variant>
    </vt:vector>
  </HeadingPairs>
  <TitlesOfParts>
    <vt:vector size="30" baseType="lpstr">
      <vt:lpstr>Aptos</vt:lpstr>
      <vt:lpstr>Aptos Display</vt:lpstr>
      <vt:lpstr>HY견고딕</vt:lpstr>
      <vt:lpstr>굴림</vt:lpstr>
      <vt:lpstr>맑은 고딕</vt:lpstr>
      <vt:lpstr>함초롬돋움</vt:lpstr>
      <vt:lpstr>Arial</vt:lpstr>
      <vt:lpstr>Calibri</vt:lpstr>
      <vt:lpstr>Cambria Math</vt:lpstr>
      <vt:lpstr>Tahoma</vt:lpstr>
      <vt:lpstr>Wingdings</vt:lpstr>
      <vt:lpstr>Office 테마</vt:lpstr>
      <vt:lpstr>디자인 사용자 지정</vt:lpstr>
      <vt:lpstr>1_Office 테마</vt:lpstr>
      <vt:lpstr>PowerPoint 프레젠테이션</vt:lpstr>
      <vt:lpstr>Ⅰ. 품질관리 System 체계 확립 _ 품질 관리 업무 주기 &amp; 담당자</vt:lpstr>
      <vt:lpstr>Ⅱ. 별첨. 품질관리 업무별 Process _ 1. 제품 클레임 처리</vt:lpstr>
      <vt:lpstr>Ⅱ. 별첨. 품질관리 업무별 Process _ 2. 신제품 QC  &amp;  3. 러닝품 QC</vt:lpstr>
      <vt:lpstr>Ⅱ. 별첨. 품질관리 업무별 Process _ 4. 화장품 표시문안 검토</vt:lpstr>
      <vt:lpstr>Ⅱ. 별첨. 품질관리 업무별 Process _ 5. 화장품 원료목록보고</vt:lpstr>
      <vt:lpstr>Ⅱ. 별첨. 품질관리 업무별 Process _  6. 포장재 재질구조등급평가 &amp; 7. CT관리 &amp; 8. 포장사양서 검토</vt:lpstr>
      <vt:lpstr>Ⅱ. 별첨. 품질관리 업무별 Process _ 9. 수출서류 및 국내 QA 서류 대응 &amp; 10. QA 서류 관리</vt:lpstr>
      <vt:lpstr>Ⅱ. 별첨. 품질관리 업무별 Process _  11. 시장출하승인기록서 관리 &amp; 12. 자재표준(한도)견본 관리</vt:lpstr>
      <vt:lpstr>Ⅱ. 별첨. 품질관리 업무별 Process _  13. 제품 부적합 처리</vt:lpstr>
      <vt:lpstr>Ⅱ. 별첨. 품질관리 업무별 Process _ 14. 제조업체 관리</vt:lpstr>
      <vt:lpstr>Ⅱ. 별첨. 품질관리 업무별 Process _ 15. 화장품 안전성 정기보고 &amp; 16. 화장품 안전관리</vt:lpstr>
      <vt:lpstr>Ⅱ. 별첨. 품질관리 업무별 Process _ 17. 화장품 광고문안 검토 &amp; 18. 기능성화장품 심사제외품목 보고</vt:lpstr>
      <vt:lpstr>Ⅱ. 별첨. 품질관리 업무별 Process _ 19. 정품여부 확인 &amp; 20. 개정법규 대응</vt:lpstr>
      <vt:lpstr>Ⅱ. 별첨. 품질관리 업무별 Process _ 21. 식약처 대관업무 &amp; 22. 교육·훈련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JM_Solution0002</dc:creator>
  <cp:lastModifiedBy>차 승호</cp:lastModifiedBy>
  <cp:revision>1583</cp:revision>
  <cp:lastPrinted>2023-10-16T00:26:59Z</cp:lastPrinted>
  <dcterms:created xsi:type="dcterms:W3CDTF">2019-07-23T08:02:44Z</dcterms:created>
  <dcterms:modified xsi:type="dcterms:W3CDTF">2026-05-18T02:16:18Z</dcterms:modified>
</cp:coreProperties>
</file>